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12192000"/>
  <p:notesSz cx="6858000" cy="9144000"/>
  <p:embeddedFontLst>
    <p:embeddedFont>
      <p:font typeface="Geist"/>
      <p:bold r:id="rId45"/>
      <p:boldItalic r:id="rId46"/>
    </p:embeddedFont>
    <p:embeddedFont>
      <p:font typeface="Montserrat"/>
      <p:regular r:id="rId47"/>
      <p:bold r:id="rId48"/>
      <p:italic r:id="rId49"/>
      <p:boldItalic r:id="rId50"/>
    </p:embeddedFont>
    <p:embeddedFont>
      <p:font typeface="Geist Mono"/>
      <p:regular r:id="rId51"/>
      <p:bold r:id="rId52"/>
      <p:italic r:id="rId53"/>
      <p:boldItalic r:id="rId54"/>
    </p:embeddedFont>
    <p:embeddedFont>
      <p:font typeface="Geist Black"/>
      <p:bold r:id="rId55"/>
      <p:boldItalic r:id="rId56"/>
    </p:embeddedFon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gvAF3jbz3KMKpGi5Glu22UonEJ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0A7C61-F1DF-4A50-8135-958D86153745}">
  <a:tblStyle styleId="{FC0A7C61-F1DF-4A50-8135-958D8615374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FF34824B-491D-4B71-B3F2-BC05F189CE2E}"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Geist-boldItalic.fntdata"/><Relationship Id="rId45" Type="http://schemas.openxmlformats.org/officeDocument/2006/relationships/font" Target="fonts/Geist-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ono-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GeistMono-regular.fntdata"/><Relationship Id="rId50" Type="http://schemas.openxmlformats.org/officeDocument/2006/relationships/font" Target="fonts/Montserrat-boldItalic.fntdata"/><Relationship Id="rId53" Type="http://schemas.openxmlformats.org/officeDocument/2006/relationships/font" Target="fonts/GeistMono-italic.fntdata"/><Relationship Id="rId52" Type="http://schemas.openxmlformats.org/officeDocument/2006/relationships/font" Target="fonts/GeistMono-bold.fntdata"/><Relationship Id="rId11" Type="http://schemas.openxmlformats.org/officeDocument/2006/relationships/slide" Target="slides/slide5.xml"/><Relationship Id="rId55" Type="http://schemas.openxmlformats.org/officeDocument/2006/relationships/font" Target="fonts/GeistBlack-bold.fntdata"/><Relationship Id="rId10" Type="http://schemas.openxmlformats.org/officeDocument/2006/relationships/slide" Target="slides/slide4.xml"/><Relationship Id="rId54" Type="http://schemas.openxmlformats.org/officeDocument/2006/relationships/font" Target="fonts/GeistMono-boldItalic.fntdata"/><Relationship Id="rId13" Type="http://schemas.openxmlformats.org/officeDocument/2006/relationships/slide" Target="slides/slide7.xml"/><Relationship Id="rId57" Type="http://schemas.openxmlformats.org/officeDocument/2006/relationships/font" Target="fonts/RobotoMono-regular.fntdata"/><Relationship Id="rId12" Type="http://schemas.openxmlformats.org/officeDocument/2006/relationships/slide" Target="slides/slide6.xml"/><Relationship Id="rId56" Type="http://schemas.openxmlformats.org/officeDocument/2006/relationships/font" Target="fonts/GeistBlack-boldItalic.fntdata"/><Relationship Id="rId15" Type="http://schemas.openxmlformats.org/officeDocument/2006/relationships/slide" Target="slides/slide9.xml"/><Relationship Id="rId59" Type="http://schemas.openxmlformats.org/officeDocument/2006/relationships/font" Target="fonts/RobotoMono-italic.fntdata"/><Relationship Id="rId14" Type="http://schemas.openxmlformats.org/officeDocument/2006/relationships/slide" Target="slides/slide8.xml"/><Relationship Id="rId58" Type="http://schemas.openxmlformats.org/officeDocument/2006/relationships/font" Target="fonts/RobotoMon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d4779c472_4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fd4779c472_4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br>
              <a:rPr lang="it-IT"/>
            </a:br>
            <a:br>
              <a:rPr lang="it-IT"/>
            </a:br>
            <a:r>
              <a:rPr lang="it-IT"/>
              <a:t>Un VAE è un'architettura di rete neurale che si basa su due componenti principali: l'encoder e il decoder. L'encoder trasforma i dati in una rappresentazione latente probabilistica, mentre il decoder utilizza questa rappresentazione per generare nuovi dati. Questo processo di apprendimento consente al VAE di catturare le caratteristiche fondamentali del dataset, facilitando la generazione di nuovi esempi che mantengono le stesse proprietà statistiche dei dati originali. </a:t>
            </a:r>
            <a:br>
              <a:rPr lang="it-IT"/>
            </a:br>
            <a:r>
              <a:rPr lang="it-IT"/>
              <a:t>______</a:t>
            </a:r>
            <a:endParaRPr/>
          </a:p>
          <a:p>
            <a:pPr indent="0" lvl="0" marL="0" rtl="0" algn="l">
              <a:lnSpc>
                <a:spcPct val="100000"/>
              </a:lnSpc>
              <a:spcBef>
                <a:spcPts val="0"/>
              </a:spcBef>
              <a:spcAft>
                <a:spcPts val="0"/>
              </a:spcAft>
              <a:buSzPts val="1100"/>
              <a:buNone/>
            </a:pPr>
            <a:br>
              <a:rPr lang="it-IT"/>
            </a:br>
            <a:r>
              <a:rPr lang="it-IT"/>
              <a:t>Generato da Copilot</a:t>
            </a:r>
            <a:br>
              <a:rPr lang="it-IT"/>
            </a:br>
            <a:br>
              <a:rPr lang="it-IT"/>
            </a:br>
            <a:r>
              <a:rPr lang="it-IT"/>
              <a:t>Un VAE è un'architettura di rete neurale che si basa su un approccio probabilistico per rappresentare i dati. La sua principale funzione è quella di generare nuovi dati a partire da un set di dati esistente. Gli autoencoder, di cui il VAE è una variante, si concentrano sulla ricostruzione dei dati, mentre il VAE introduce un elemento di generazione, consentendo di esplorare lo spazio latente in modo più efficace. Questo processo è cruciale per applicazioni come la generazione di immagini e la modellazione di dati complessi. </a:t>
            </a:r>
            <a:br>
              <a:rPr lang="it-IT"/>
            </a:br>
            <a:r>
              <a:rPr lang="it-IT"/>
              <a:t>______</a:t>
            </a:r>
            <a:endParaRPr/>
          </a:p>
          <a:p>
            <a:pPr indent="0" lvl="0" marL="0" rtl="0" algn="l">
              <a:lnSpc>
                <a:spcPct val="100000"/>
              </a:lnSpc>
              <a:spcBef>
                <a:spcPts val="0"/>
              </a:spcBef>
              <a:spcAft>
                <a:spcPts val="0"/>
              </a:spcAft>
              <a:buSzPts val="1100"/>
              <a:buNone/>
            </a:pPr>
            <a:br>
              <a:rPr lang="it-IT"/>
            </a:br>
            <a:endParaRPr/>
          </a:p>
        </p:txBody>
      </p:sp>
      <p:sp>
        <p:nvSpPr>
          <p:cNvPr id="205" name="Google Shape;205;g3fd4779c472_4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d4779c472_4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fd4779c472_4_6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d4779c472_4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g3fd4779c472_4_2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d4779c472_4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fd4779c472_4_2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d4779c472_4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g3fd4779c472_4_2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d4779c472_4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g3fd4779c472_4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d4779c472_4_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fd4779c472_4_2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d4779c472_4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3fd4779c472_4_2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d4779c472_4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fd4779c472_4_4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d4779c472_4_4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fd4779c472_4_4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g3fd4779c472_4_4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d4779c472_4_4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fd4779c472_4_4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g3fd4779c472_4_4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d4779c472_4_4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fd4779c472_4_4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g3fd4779c472_4_4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d4779c472_4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g3fd4779c472_4_4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g3fd4779c472_4_4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fd4779c472_4_4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g3fd4779c472_4_4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g3fd4779c472_4_4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d4779c472_4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g3fd4779c472_4_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g3fd4779c472_4_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fd47f7097e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g3fd47f7097e_2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fd4779c472_4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3fd4779c472_4_6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p:cSld name="Diapositiva titolo">
    <p:spTree>
      <p:nvGrpSpPr>
        <p:cNvPr id="11" name="Shape 11"/>
        <p:cNvGrpSpPr/>
        <p:nvPr/>
      </p:nvGrpSpPr>
      <p:grpSpPr>
        <a:xfrm>
          <a:off x="0" y="0"/>
          <a:ext cx="0" cy="0"/>
          <a:chOff x="0" y="0"/>
          <a:chExt cx="0" cy="0"/>
        </a:xfrm>
      </p:grpSpPr>
      <p:sp>
        <p:nvSpPr>
          <p:cNvPr id="12" name="Google Shape;12;p42"/>
          <p:cNvSpPr txBox="1"/>
          <p:nvPr>
            <p:ph type="ctrTitle"/>
          </p:nvPr>
        </p:nvSpPr>
        <p:spPr>
          <a:xfrm>
            <a:off x="1524000" y="1465263"/>
            <a:ext cx="7905750" cy="3303587"/>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080808"/>
              </a:buClr>
              <a:buSzPts val="6000"/>
              <a:buFont typeface="Geist Black"/>
              <a:buNone/>
              <a:defRPr sz="6000">
                <a:solidFill>
                  <a:srgbClr val="080808"/>
                </a:solidFill>
                <a:latin typeface="Geist Black"/>
                <a:ea typeface="Geist Black"/>
                <a:cs typeface="Geist Black"/>
                <a:sym typeface="Ge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Immagine che contiene schermata, Policromia, Elementi grafici, arancione&#10;&#10;Descrizione generata automaticamente" id="13" name="Google Shape;13;p42"/>
          <p:cNvPicPr preferRelativeResize="0"/>
          <p:nvPr/>
        </p:nvPicPr>
        <p:blipFill rotWithShape="1">
          <a:blip r:embed="rId2">
            <a:alphaModFix/>
          </a:blip>
          <a:srcRect b="0" l="0" r="0" t="0"/>
          <a:stretch/>
        </p:blipFill>
        <p:spPr>
          <a:xfrm>
            <a:off x="0" y="0"/>
            <a:ext cx="12191999" cy="6858000"/>
          </a:xfrm>
          <a:prstGeom prst="rect">
            <a:avLst/>
          </a:prstGeom>
          <a:solidFill>
            <a:schemeClr val="dk2"/>
          </a:solidFill>
          <a:ln>
            <a:noFill/>
          </a:ln>
        </p:spPr>
      </p:pic>
      <p:grpSp>
        <p:nvGrpSpPr>
          <p:cNvPr id="14" name="Google Shape;14;p42"/>
          <p:cNvGrpSpPr/>
          <p:nvPr/>
        </p:nvGrpSpPr>
        <p:grpSpPr>
          <a:xfrm>
            <a:off x="9403822" y="6253378"/>
            <a:ext cx="2362199" cy="317915"/>
            <a:chOff x="3529477" y="82930"/>
            <a:chExt cx="1805723" cy="243022"/>
          </a:xfrm>
        </p:grpSpPr>
        <p:sp>
          <p:nvSpPr>
            <p:cNvPr id="15" name="Google Shape;15;p42"/>
            <p:cNvSpPr/>
            <p:nvPr/>
          </p:nvSpPr>
          <p:spPr>
            <a:xfrm>
              <a:off x="3529477" y="82930"/>
              <a:ext cx="198312" cy="239417"/>
            </a:xfrm>
            <a:custGeom>
              <a:rect b="b" l="l" r="r" t="t"/>
              <a:pathLst>
                <a:path extrusionOk="0" h="239417" w="198312">
                  <a:moveTo>
                    <a:pt x="36057" y="205524"/>
                  </a:moveTo>
                  <a:lnTo>
                    <a:pt x="83652" y="205524"/>
                  </a:lnTo>
                  <a:cubicBezTo>
                    <a:pt x="128362" y="205524"/>
                    <a:pt x="162256" y="170909"/>
                    <a:pt x="162256" y="120430"/>
                  </a:cubicBezTo>
                  <a:cubicBezTo>
                    <a:pt x="162256" y="69950"/>
                    <a:pt x="128362" y="35336"/>
                    <a:pt x="83652" y="35336"/>
                  </a:cubicBezTo>
                  <a:lnTo>
                    <a:pt x="36057" y="35336"/>
                  </a:lnTo>
                  <a:lnTo>
                    <a:pt x="36057" y="206245"/>
                  </a:lnTo>
                  <a:lnTo>
                    <a:pt x="36057" y="205524"/>
                  </a:lnTo>
                  <a:close/>
                  <a:moveTo>
                    <a:pt x="0" y="239417"/>
                  </a:moveTo>
                  <a:lnTo>
                    <a:pt x="0" y="0"/>
                  </a:lnTo>
                  <a:lnTo>
                    <a:pt x="83652" y="0"/>
                  </a:lnTo>
                  <a:cubicBezTo>
                    <a:pt x="148554" y="0"/>
                    <a:pt x="198312" y="49758"/>
                    <a:pt x="198312" y="119709"/>
                  </a:cubicBezTo>
                  <a:cubicBezTo>
                    <a:pt x="198312" y="189659"/>
                    <a:pt x="148554" y="239417"/>
                    <a:pt x="83652" y="239417"/>
                  </a:cubicBezTo>
                  <a:lnTo>
                    <a:pt x="0" y="23941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6" name="Google Shape;16;p42"/>
            <p:cNvSpPr/>
            <p:nvPr/>
          </p:nvSpPr>
          <p:spPr>
            <a:xfrm>
              <a:off x="3740049" y="148553"/>
              <a:ext cx="166582" cy="177399"/>
            </a:xfrm>
            <a:custGeom>
              <a:rect b="b" l="l" r="r" t="t"/>
              <a:pathLst>
                <a:path extrusionOk="0" h="177399" w="166582">
                  <a:moveTo>
                    <a:pt x="132689" y="173794"/>
                  </a:moveTo>
                  <a:lnTo>
                    <a:pt x="132689" y="155044"/>
                  </a:lnTo>
                  <a:lnTo>
                    <a:pt x="131247" y="155044"/>
                  </a:lnTo>
                  <a:cubicBezTo>
                    <a:pt x="127641" y="160092"/>
                    <a:pt x="111055" y="177399"/>
                    <a:pt x="78604" y="177399"/>
                  </a:cubicBezTo>
                  <a:cubicBezTo>
                    <a:pt x="46153" y="177399"/>
                    <a:pt x="0" y="143506"/>
                    <a:pt x="0" y="88700"/>
                  </a:cubicBezTo>
                  <a:cubicBezTo>
                    <a:pt x="0" y="33893"/>
                    <a:pt x="33893" y="0"/>
                    <a:pt x="78604" y="0"/>
                  </a:cubicBezTo>
                  <a:cubicBezTo>
                    <a:pt x="123314" y="0"/>
                    <a:pt x="125478" y="17307"/>
                    <a:pt x="131247" y="23797"/>
                  </a:cubicBezTo>
                  <a:lnTo>
                    <a:pt x="132689" y="23797"/>
                  </a:lnTo>
                  <a:lnTo>
                    <a:pt x="132689" y="3606"/>
                  </a:lnTo>
                  <a:lnTo>
                    <a:pt x="166582" y="3606"/>
                  </a:lnTo>
                  <a:lnTo>
                    <a:pt x="166582" y="174515"/>
                  </a:lnTo>
                  <a:lnTo>
                    <a:pt x="132689" y="174515"/>
                  </a:lnTo>
                  <a:lnTo>
                    <a:pt x="132689" y="173794"/>
                  </a:lnTo>
                  <a:close/>
                  <a:moveTo>
                    <a:pt x="83652" y="146391"/>
                  </a:moveTo>
                  <a:cubicBezTo>
                    <a:pt x="111055" y="146391"/>
                    <a:pt x="133410" y="124035"/>
                    <a:pt x="133410" y="87979"/>
                  </a:cubicBezTo>
                  <a:cubicBezTo>
                    <a:pt x="133410" y="51922"/>
                    <a:pt x="111055" y="29567"/>
                    <a:pt x="83652" y="29567"/>
                  </a:cubicBezTo>
                  <a:cubicBezTo>
                    <a:pt x="56249" y="29567"/>
                    <a:pt x="33893" y="51922"/>
                    <a:pt x="33893" y="87979"/>
                  </a:cubicBezTo>
                  <a:cubicBezTo>
                    <a:pt x="33893" y="124035"/>
                    <a:pt x="56249" y="146391"/>
                    <a:pt x="83652" y="1463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7" name="Google Shape;17;p42"/>
            <p:cNvSpPr/>
            <p:nvPr/>
          </p:nvSpPr>
          <p:spPr>
            <a:xfrm>
              <a:off x="3920333" y="104564"/>
              <a:ext cx="100238" cy="218504"/>
            </a:xfrm>
            <a:custGeom>
              <a:rect b="b" l="l" r="r" t="t"/>
              <a:pathLst>
                <a:path extrusionOk="0" h="218504" w="100238">
                  <a:moveTo>
                    <a:pt x="27403" y="182447"/>
                  </a:moveTo>
                  <a:lnTo>
                    <a:pt x="27403" y="80046"/>
                  </a:lnTo>
                  <a:lnTo>
                    <a:pt x="0" y="80046"/>
                  </a:lnTo>
                  <a:lnTo>
                    <a:pt x="0" y="47595"/>
                  </a:lnTo>
                  <a:lnTo>
                    <a:pt x="27403" y="47595"/>
                  </a:lnTo>
                  <a:lnTo>
                    <a:pt x="27403" y="0"/>
                  </a:lnTo>
                  <a:lnTo>
                    <a:pt x="61297" y="0"/>
                  </a:lnTo>
                  <a:lnTo>
                    <a:pt x="61297" y="47595"/>
                  </a:lnTo>
                  <a:lnTo>
                    <a:pt x="100238" y="47595"/>
                  </a:lnTo>
                  <a:lnTo>
                    <a:pt x="100238" y="80046"/>
                  </a:lnTo>
                  <a:lnTo>
                    <a:pt x="61297" y="80046"/>
                  </a:lnTo>
                  <a:lnTo>
                    <a:pt x="61297" y="177399"/>
                  </a:lnTo>
                  <a:cubicBezTo>
                    <a:pt x="61297" y="183890"/>
                    <a:pt x="64902" y="187495"/>
                    <a:pt x="71393" y="187495"/>
                  </a:cubicBezTo>
                  <a:lnTo>
                    <a:pt x="100238" y="187495"/>
                  </a:lnTo>
                  <a:lnTo>
                    <a:pt x="100238" y="218504"/>
                  </a:lnTo>
                  <a:lnTo>
                    <a:pt x="64181" y="218504"/>
                  </a:lnTo>
                  <a:cubicBezTo>
                    <a:pt x="39662" y="218504"/>
                    <a:pt x="26682" y="204803"/>
                    <a:pt x="26682" y="182447"/>
                  </a:cubicBezTo>
                  <a:lnTo>
                    <a:pt x="27403" y="18244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8" name="Google Shape;18;p42"/>
            <p:cNvSpPr/>
            <p:nvPr/>
          </p:nvSpPr>
          <p:spPr>
            <a:xfrm>
              <a:off x="4027061" y="148553"/>
              <a:ext cx="166582" cy="177399"/>
            </a:xfrm>
            <a:custGeom>
              <a:rect b="b" l="l" r="r" t="t"/>
              <a:pathLst>
                <a:path extrusionOk="0" h="177399" w="166582">
                  <a:moveTo>
                    <a:pt x="132689" y="173794"/>
                  </a:moveTo>
                  <a:lnTo>
                    <a:pt x="132689" y="155044"/>
                  </a:lnTo>
                  <a:lnTo>
                    <a:pt x="131247" y="155044"/>
                  </a:lnTo>
                  <a:cubicBezTo>
                    <a:pt x="127641" y="160092"/>
                    <a:pt x="111055" y="177399"/>
                    <a:pt x="78604" y="177399"/>
                  </a:cubicBezTo>
                  <a:cubicBezTo>
                    <a:pt x="46153" y="177399"/>
                    <a:pt x="0" y="143506"/>
                    <a:pt x="0" y="88700"/>
                  </a:cubicBezTo>
                  <a:cubicBezTo>
                    <a:pt x="0" y="33893"/>
                    <a:pt x="33893" y="0"/>
                    <a:pt x="78604" y="0"/>
                  </a:cubicBezTo>
                  <a:cubicBezTo>
                    <a:pt x="123314" y="0"/>
                    <a:pt x="125478" y="17307"/>
                    <a:pt x="131247" y="23797"/>
                  </a:cubicBezTo>
                  <a:lnTo>
                    <a:pt x="132689" y="23797"/>
                  </a:lnTo>
                  <a:lnTo>
                    <a:pt x="132689" y="3606"/>
                  </a:lnTo>
                  <a:lnTo>
                    <a:pt x="166582" y="3606"/>
                  </a:lnTo>
                  <a:lnTo>
                    <a:pt x="166582" y="174515"/>
                  </a:lnTo>
                  <a:lnTo>
                    <a:pt x="132689" y="174515"/>
                  </a:lnTo>
                  <a:lnTo>
                    <a:pt x="132689" y="173794"/>
                  </a:lnTo>
                  <a:close/>
                  <a:moveTo>
                    <a:pt x="83652" y="146391"/>
                  </a:moveTo>
                  <a:cubicBezTo>
                    <a:pt x="111055" y="146391"/>
                    <a:pt x="133410" y="124035"/>
                    <a:pt x="133410" y="87979"/>
                  </a:cubicBezTo>
                  <a:cubicBezTo>
                    <a:pt x="133410" y="51922"/>
                    <a:pt x="111055" y="29567"/>
                    <a:pt x="83652" y="29567"/>
                  </a:cubicBezTo>
                  <a:cubicBezTo>
                    <a:pt x="56248" y="29567"/>
                    <a:pt x="33893" y="51922"/>
                    <a:pt x="33893" y="87979"/>
                  </a:cubicBezTo>
                  <a:cubicBezTo>
                    <a:pt x="33893" y="124035"/>
                    <a:pt x="56248" y="146391"/>
                    <a:pt x="83652" y="1463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9" name="Google Shape;19;p42"/>
            <p:cNvSpPr/>
            <p:nvPr/>
          </p:nvSpPr>
          <p:spPr>
            <a:xfrm>
              <a:off x="4220325" y="82930"/>
              <a:ext cx="266099" cy="239417"/>
            </a:xfrm>
            <a:custGeom>
              <a:rect b="b" l="l" r="r" t="t"/>
              <a:pathLst>
                <a:path extrusionOk="0" h="239417" w="266099">
                  <a:moveTo>
                    <a:pt x="238696" y="36057"/>
                  </a:moveTo>
                  <a:lnTo>
                    <a:pt x="224994" y="36057"/>
                  </a:lnTo>
                  <a:lnTo>
                    <a:pt x="153602" y="239417"/>
                  </a:lnTo>
                  <a:lnTo>
                    <a:pt x="112497" y="239417"/>
                  </a:lnTo>
                  <a:lnTo>
                    <a:pt x="41105" y="36057"/>
                  </a:lnTo>
                  <a:lnTo>
                    <a:pt x="27403" y="36057"/>
                  </a:lnTo>
                  <a:lnTo>
                    <a:pt x="27403" y="239417"/>
                  </a:lnTo>
                  <a:lnTo>
                    <a:pt x="0" y="239417"/>
                  </a:lnTo>
                  <a:lnTo>
                    <a:pt x="0" y="0"/>
                  </a:lnTo>
                  <a:lnTo>
                    <a:pt x="56249" y="0"/>
                  </a:lnTo>
                  <a:lnTo>
                    <a:pt x="129804" y="208408"/>
                  </a:lnTo>
                  <a:lnTo>
                    <a:pt x="136295" y="208408"/>
                  </a:lnTo>
                  <a:lnTo>
                    <a:pt x="209851" y="0"/>
                  </a:lnTo>
                  <a:lnTo>
                    <a:pt x="238696" y="0"/>
                  </a:lnTo>
                  <a:lnTo>
                    <a:pt x="238696" y="36057"/>
                  </a:lnTo>
                  <a:lnTo>
                    <a:pt x="238696" y="36057"/>
                  </a:lnTo>
                  <a:close/>
                  <a:moveTo>
                    <a:pt x="238696" y="239417"/>
                  </a:moveTo>
                  <a:lnTo>
                    <a:pt x="238696" y="36057"/>
                  </a:lnTo>
                  <a:lnTo>
                    <a:pt x="266099" y="36057"/>
                  </a:lnTo>
                  <a:lnTo>
                    <a:pt x="266099" y="239417"/>
                  </a:lnTo>
                  <a:lnTo>
                    <a:pt x="238696" y="23941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0" name="Google Shape;20;p42"/>
            <p:cNvSpPr/>
            <p:nvPr/>
          </p:nvSpPr>
          <p:spPr>
            <a:xfrm>
              <a:off x="4503010" y="148553"/>
              <a:ext cx="160813" cy="177399"/>
            </a:xfrm>
            <a:custGeom>
              <a:rect b="b" l="l" r="r" t="t"/>
              <a:pathLst>
                <a:path extrusionOk="0" h="177399" w="160813">
                  <a:moveTo>
                    <a:pt x="133410" y="149996"/>
                  </a:moveTo>
                  <a:cubicBezTo>
                    <a:pt x="119709" y="167303"/>
                    <a:pt x="103122" y="177399"/>
                    <a:pt x="78604" y="177399"/>
                  </a:cubicBezTo>
                  <a:cubicBezTo>
                    <a:pt x="33893" y="177399"/>
                    <a:pt x="0" y="141343"/>
                    <a:pt x="0" y="88700"/>
                  </a:cubicBezTo>
                  <a:cubicBezTo>
                    <a:pt x="0" y="36057"/>
                    <a:pt x="33893" y="0"/>
                    <a:pt x="78604" y="0"/>
                  </a:cubicBezTo>
                  <a:cubicBezTo>
                    <a:pt x="123314" y="0"/>
                    <a:pt x="119709" y="10096"/>
                    <a:pt x="133410" y="27403"/>
                  </a:cubicBezTo>
                  <a:lnTo>
                    <a:pt x="134852" y="27403"/>
                  </a:lnTo>
                  <a:lnTo>
                    <a:pt x="134852" y="3606"/>
                  </a:lnTo>
                  <a:lnTo>
                    <a:pt x="160813" y="3606"/>
                  </a:lnTo>
                  <a:lnTo>
                    <a:pt x="160813" y="174515"/>
                  </a:lnTo>
                  <a:lnTo>
                    <a:pt x="134852" y="174515"/>
                  </a:lnTo>
                  <a:lnTo>
                    <a:pt x="134852" y="150717"/>
                  </a:lnTo>
                  <a:lnTo>
                    <a:pt x="133410" y="150717"/>
                  </a:lnTo>
                  <a:lnTo>
                    <a:pt x="133410" y="149996"/>
                  </a:lnTo>
                  <a:close/>
                  <a:moveTo>
                    <a:pt x="25961" y="88700"/>
                  </a:moveTo>
                  <a:cubicBezTo>
                    <a:pt x="25961" y="127641"/>
                    <a:pt x="51922" y="153602"/>
                    <a:pt x="80767" y="153602"/>
                  </a:cubicBezTo>
                  <a:cubicBezTo>
                    <a:pt x="109612" y="153602"/>
                    <a:pt x="135573" y="127641"/>
                    <a:pt x="135573" y="88700"/>
                  </a:cubicBezTo>
                  <a:cubicBezTo>
                    <a:pt x="135573" y="49758"/>
                    <a:pt x="109612" y="23797"/>
                    <a:pt x="80767" y="23797"/>
                  </a:cubicBezTo>
                  <a:cubicBezTo>
                    <a:pt x="51922" y="23797"/>
                    <a:pt x="25961" y="49758"/>
                    <a:pt x="25961" y="887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1" name="Google Shape;21;p42"/>
            <p:cNvSpPr/>
            <p:nvPr/>
          </p:nvSpPr>
          <p:spPr>
            <a:xfrm>
              <a:off x="4681852" y="147832"/>
              <a:ext cx="134852" cy="178120"/>
            </a:xfrm>
            <a:custGeom>
              <a:rect b="b" l="l" r="r" t="t"/>
              <a:pathLst>
                <a:path extrusionOk="0" h="178120" w="134852">
                  <a:moveTo>
                    <a:pt x="25240" y="125478"/>
                  </a:moveTo>
                  <a:cubicBezTo>
                    <a:pt x="25240" y="140621"/>
                    <a:pt x="40384" y="154323"/>
                    <a:pt x="67787" y="154323"/>
                  </a:cubicBezTo>
                  <a:cubicBezTo>
                    <a:pt x="95190" y="154323"/>
                    <a:pt x="108892" y="142064"/>
                    <a:pt x="108892" y="128362"/>
                  </a:cubicBezTo>
                  <a:cubicBezTo>
                    <a:pt x="108892" y="114661"/>
                    <a:pt x="100238" y="106728"/>
                    <a:pt x="80046" y="102401"/>
                  </a:cubicBezTo>
                  <a:lnTo>
                    <a:pt x="51201" y="97353"/>
                  </a:lnTo>
                  <a:cubicBezTo>
                    <a:pt x="20192" y="92305"/>
                    <a:pt x="3606" y="77162"/>
                    <a:pt x="3606" y="49758"/>
                  </a:cubicBezTo>
                  <a:cubicBezTo>
                    <a:pt x="3606" y="22355"/>
                    <a:pt x="24519" y="0"/>
                    <a:pt x="67066" y="0"/>
                  </a:cubicBezTo>
                  <a:cubicBezTo>
                    <a:pt x="109613" y="0"/>
                    <a:pt x="133410" y="25961"/>
                    <a:pt x="133410" y="52643"/>
                  </a:cubicBezTo>
                  <a:lnTo>
                    <a:pt x="107449" y="52643"/>
                  </a:lnTo>
                  <a:cubicBezTo>
                    <a:pt x="107449" y="37499"/>
                    <a:pt x="92306" y="23797"/>
                    <a:pt x="66345" y="23797"/>
                  </a:cubicBezTo>
                  <a:cubicBezTo>
                    <a:pt x="40384" y="23797"/>
                    <a:pt x="28845" y="36057"/>
                    <a:pt x="28845" y="49758"/>
                  </a:cubicBezTo>
                  <a:cubicBezTo>
                    <a:pt x="28845" y="63460"/>
                    <a:pt x="35336" y="69950"/>
                    <a:pt x="56249" y="73556"/>
                  </a:cubicBezTo>
                  <a:lnTo>
                    <a:pt x="85094" y="78604"/>
                  </a:lnTo>
                  <a:cubicBezTo>
                    <a:pt x="118987" y="85094"/>
                    <a:pt x="134852" y="100959"/>
                    <a:pt x="134852" y="128362"/>
                  </a:cubicBezTo>
                  <a:cubicBezTo>
                    <a:pt x="134852" y="155765"/>
                    <a:pt x="113218" y="178121"/>
                    <a:pt x="68508" y="178121"/>
                  </a:cubicBezTo>
                  <a:cubicBezTo>
                    <a:pt x="23798" y="178121"/>
                    <a:pt x="0" y="152160"/>
                    <a:pt x="0" y="125478"/>
                  </a:cubicBezTo>
                  <a:lnTo>
                    <a:pt x="25961" y="125478"/>
                  </a:lnTo>
                  <a:lnTo>
                    <a:pt x="25240" y="1254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2" name="Google Shape;22;p42"/>
            <p:cNvSpPr/>
            <p:nvPr/>
          </p:nvSpPr>
          <p:spPr>
            <a:xfrm>
              <a:off x="4819589" y="104564"/>
              <a:ext cx="92305" cy="217782"/>
            </a:xfrm>
            <a:custGeom>
              <a:rect b="b" l="l" r="r" t="t"/>
              <a:pathLst>
                <a:path extrusionOk="0" h="217782" w="92305">
                  <a:moveTo>
                    <a:pt x="27403" y="71392"/>
                  </a:moveTo>
                  <a:lnTo>
                    <a:pt x="0" y="71392"/>
                  </a:lnTo>
                  <a:lnTo>
                    <a:pt x="0" y="47595"/>
                  </a:lnTo>
                  <a:lnTo>
                    <a:pt x="27403" y="47595"/>
                  </a:lnTo>
                  <a:lnTo>
                    <a:pt x="27403" y="0"/>
                  </a:lnTo>
                  <a:lnTo>
                    <a:pt x="53364" y="0"/>
                  </a:lnTo>
                  <a:lnTo>
                    <a:pt x="53364" y="47595"/>
                  </a:lnTo>
                  <a:lnTo>
                    <a:pt x="92305" y="47595"/>
                  </a:lnTo>
                  <a:lnTo>
                    <a:pt x="92305" y="71392"/>
                  </a:lnTo>
                  <a:lnTo>
                    <a:pt x="53364" y="71392"/>
                  </a:lnTo>
                  <a:lnTo>
                    <a:pt x="53364" y="183890"/>
                  </a:lnTo>
                  <a:cubicBezTo>
                    <a:pt x="53364" y="190380"/>
                    <a:pt x="56970" y="193986"/>
                    <a:pt x="63460" y="193986"/>
                  </a:cubicBezTo>
                  <a:lnTo>
                    <a:pt x="92305" y="193986"/>
                  </a:lnTo>
                  <a:lnTo>
                    <a:pt x="92305" y="217783"/>
                  </a:lnTo>
                  <a:lnTo>
                    <a:pt x="58412" y="217783"/>
                  </a:lnTo>
                  <a:cubicBezTo>
                    <a:pt x="38941" y="217783"/>
                    <a:pt x="27403" y="206245"/>
                    <a:pt x="27403" y="188938"/>
                  </a:cubicBezTo>
                  <a:lnTo>
                    <a:pt x="27403" y="7139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3" name="Google Shape;23;p42"/>
            <p:cNvSpPr/>
            <p:nvPr/>
          </p:nvSpPr>
          <p:spPr>
            <a:xfrm>
              <a:off x="4927038" y="148553"/>
              <a:ext cx="160813" cy="177399"/>
            </a:xfrm>
            <a:custGeom>
              <a:rect b="b" l="l" r="r" t="t"/>
              <a:pathLst>
                <a:path extrusionOk="0" h="177399" w="160813">
                  <a:moveTo>
                    <a:pt x="155765" y="126199"/>
                  </a:moveTo>
                  <a:cubicBezTo>
                    <a:pt x="143506" y="158650"/>
                    <a:pt x="118266" y="177399"/>
                    <a:pt x="82209" y="177399"/>
                  </a:cubicBezTo>
                  <a:cubicBezTo>
                    <a:pt x="46153" y="177399"/>
                    <a:pt x="0" y="141343"/>
                    <a:pt x="0" y="88700"/>
                  </a:cubicBezTo>
                  <a:cubicBezTo>
                    <a:pt x="0" y="36057"/>
                    <a:pt x="36057" y="0"/>
                    <a:pt x="82209" y="0"/>
                  </a:cubicBezTo>
                  <a:cubicBezTo>
                    <a:pt x="128362" y="0"/>
                    <a:pt x="160813" y="33893"/>
                    <a:pt x="160813" y="82209"/>
                  </a:cubicBezTo>
                  <a:cubicBezTo>
                    <a:pt x="160813" y="130526"/>
                    <a:pt x="160813" y="93748"/>
                    <a:pt x="160092" y="96632"/>
                  </a:cubicBezTo>
                  <a:lnTo>
                    <a:pt x="160092" y="100959"/>
                  </a:lnTo>
                  <a:lnTo>
                    <a:pt x="25961" y="100959"/>
                  </a:lnTo>
                  <a:cubicBezTo>
                    <a:pt x="29567" y="133410"/>
                    <a:pt x="53364" y="153602"/>
                    <a:pt x="82209" y="153602"/>
                  </a:cubicBezTo>
                  <a:cubicBezTo>
                    <a:pt x="111055" y="153602"/>
                    <a:pt x="119709" y="143506"/>
                    <a:pt x="128362" y="126199"/>
                  </a:cubicBezTo>
                  <a:lnTo>
                    <a:pt x="155765" y="126199"/>
                  </a:lnTo>
                  <a:lnTo>
                    <a:pt x="155765" y="126199"/>
                  </a:lnTo>
                  <a:close/>
                  <a:moveTo>
                    <a:pt x="25961" y="76440"/>
                  </a:moveTo>
                  <a:lnTo>
                    <a:pt x="135574" y="76440"/>
                  </a:lnTo>
                  <a:cubicBezTo>
                    <a:pt x="134131" y="45432"/>
                    <a:pt x="111776" y="23797"/>
                    <a:pt x="82931" y="23797"/>
                  </a:cubicBezTo>
                  <a:cubicBezTo>
                    <a:pt x="54085" y="23797"/>
                    <a:pt x="30288" y="45432"/>
                    <a:pt x="26682" y="76440"/>
                  </a:cubicBezTo>
                  <a:lnTo>
                    <a:pt x="25961" y="764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4" name="Google Shape;24;p42"/>
            <p:cNvSpPr/>
            <p:nvPr/>
          </p:nvSpPr>
          <p:spPr>
            <a:xfrm>
              <a:off x="5108043" y="151438"/>
              <a:ext cx="88699" cy="170909"/>
            </a:xfrm>
            <a:custGeom>
              <a:rect b="b" l="l" r="r" t="t"/>
              <a:pathLst>
                <a:path extrusionOk="0" h="170909" w="88699">
                  <a:moveTo>
                    <a:pt x="25961" y="0"/>
                  </a:moveTo>
                  <a:lnTo>
                    <a:pt x="88700" y="0"/>
                  </a:lnTo>
                  <a:lnTo>
                    <a:pt x="88700" y="24519"/>
                  </a:lnTo>
                  <a:lnTo>
                    <a:pt x="25961" y="24519"/>
                  </a:lnTo>
                  <a:lnTo>
                    <a:pt x="25961" y="170909"/>
                  </a:lnTo>
                  <a:lnTo>
                    <a:pt x="0" y="170909"/>
                  </a:lnTo>
                  <a:lnTo>
                    <a:pt x="0" y="24519"/>
                  </a:lnTo>
                  <a:lnTo>
                    <a:pt x="25961" y="24519"/>
                  </a:lnTo>
                  <a:cubicBezTo>
                    <a:pt x="25961" y="24519"/>
                    <a:pt x="25961" y="0"/>
                    <a:pt x="2596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5" name="Google Shape;25;p42"/>
            <p:cNvSpPr/>
            <p:nvPr/>
          </p:nvSpPr>
          <p:spPr>
            <a:xfrm>
              <a:off x="5200348" y="147832"/>
              <a:ext cx="134852" cy="178120"/>
            </a:xfrm>
            <a:custGeom>
              <a:rect b="b" l="l" r="r" t="t"/>
              <a:pathLst>
                <a:path extrusionOk="0" h="178120" w="134852">
                  <a:moveTo>
                    <a:pt x="25240" y="125478"/>
                  </a:moveTo>
                  <a:cubicBezTo>
                    <a:pt x="25240" y="140621"/>
                    <a:pt x="40384" y="154323"/>
                    <a:pt x="67787" y="154323"/>
                  </a:cubicBezTo>
                  <a:cubicBezTo>
                    <a:pt x="95190" y="154323"/>
                    <a:pt x="108892" y="142064"/>
                    <a:pt x="108892" y="128362"/>
                  </a:cubicBezTo>
                  <a:cubicBezTo>
                    <a:pt x="108892" y="114661"/>
                    <a:pt x="100238" y="106728"/>
                    <a:pt x="80046" y="102401"/>
                  </a:cubicBezTo>
                  <a:lnTo>
                    <a:pt x="51201" y="97353"/>
                  </a:lnTo>
                  <a:cubicBezTo>
                    <a:pt x="20192" y="92305"/>
                    <a:pt x="3606" y="77162"/>
                    <a:pt x="3606" y="49758"/>
                  </a:cubicBezTo>
                  <a:cubicBezTo>
                    <a:pt x="3606" y="22355"/>
                    <a:pt x="24519" y="0"/>
                    <a:pt x="67066" y="0"/>
                  </a:cubicBezTo>
                  <a:cubicBezTo>
                    <a:pt x="109613" y="0"/>
                    <a:pt x="133410" y="25961"/>
                    <a:pt x="133410" y="52643"/>
                  </a:cubicBezTo>
                  <a:lnTo>
                    <a:pt x="107449" y="52643"/>
                  </a:lnTo>
                  <a:cubicBezTo>
                    <a:pt x="107449" y="37499"/>
                    <a:pt x="92305" y="23797"/>
                    <a:pt x="66345" y="23797"/>
                  </a:cubicBezTo>
                  <a:cubicBezTo>
                    <a:pt x="40384" y="23797"/>
                    <a:pt x="28845" y="36057"/>
                    <a:pt x="28845" y="49758"/>
                  </a:cubicBezTo>
                  <a:cubicBezTo>
                    <a:pt x="28845" y="63460"/>
                    <a:pt x="35336" y="69950"/>
                    <a:pt x="56248" y="73556"/>
                  </a:cubicBezTo>
                  <a:lnTo>
                    <a:pt x="85094" y="78604"/>
                  </a:lnTo>
                  <a:cubicBezTo>
                    <a:pt x="118987" y="85094"/>
                    <a:pt x="134852" y="100959"/>
                    <a:pt x="134852" y="128362"/>
                  </a:cubicBezTo>
                  <a:cubicBezTo>
                    <a:pt x="134852" y="155765"/>
                    <a:pt x="113218" y="178121"/>
                    <a:pt x="68508" y="178121"/>
                  </a:cubicBezTo>
                  <a:cubicBezTo>
                    <a:pt x="23797" y="178121"/>
                    <a:pt x="0" y="152160"/>
                    <a:pt x="0" y="125478"/>
                  </a:cubicBezTo>
                  <a:lnTo>
                    <a:pt x="25961" y="125478"/>
                  </a:lnTo>
                  <a:lnTo>
                    <a:pt x="25240" y="1254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2160">
          <p15:clr>
            <a:srgbClr val="FBAE40"/>
          </p15:clr>
        </p15:guide>
        <p15:guide id="2" pos="2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6" name="Shape 26"/>
        <p:cNvGrpSpPr/>
        <p:nvPr/>
      </p:nvGrpSpPr>
      <p:grpSpPr>
        <a:xfrm>
          <a:off x="0" y="0"/>
          <a:ext cx="0" cy="0"/>
          <a:chOff x="0" y="0"/>
          <a:chExt cx="0" cy="0"/>
        </a:xfrm>
      </p:grpSpPr>
      <p:pic>
        <p:nvPicPr>
          <p:cNvPr descr="Immagine che contiene Elementi grafici, grafica, Carattere, schermata&#10;&#10;Descrizione generata automaticamente" id="27" name="Google Shape;27;p43"/>
          <p:cNvPicPr preferRelativeResize="0"/>
          <p:nvPr/>
        </p:nvPicPr>
        <p:blipFill rotWithShape="1">
          <a:blip r:embed="rId2">
            <a:alphaModFix/>
          </a:blip>
          <a:srcRect b="0" l="0" r="0" t="0"/>
          <a:stretch/>
        </p:blipFill>
        <p:spPr>
          <a:xfrm>
            <a:off x="9854250" y="6257183"/>
            <a:ext cx="1893825" cy="338184"/>
          </a:xfrm>
          <a:prstGeom prst="rect">
            <a:avLst/>
          </a:prstGeom>
          <a:noFill/>
          <a:ln>
            <a:noFill/>
          </a:ln>
        </p:spPr>
      </p:pic>
      <p:sp>
        <p:nvSpPr>
          <p:cNvPr id="28" name="Google Shape;28;p43"/>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3"/>
          <p:cNvSpPr txBox="1"/>
          <p:nvPr>
            <p:ph idx="1" type="body"/>
          </p:nvPr>
        </p:nvSpPr>
        <p:spPr>
          <a:xfrm>
            <a:off x="551884" y="2305346"/>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3" name="Shape 33"/>
        <p:cNvGrpSpPr/>
        <p:nvPr/>
      </p:nvGrpSpPr>
      <p:grpSpPr>
        <a:xfrm>
          <a:off x="0" y="0"/>
          <a:ext cx="0" cy="0"/>
          <a:chOff x="0" y="0"/>
          <a:chExt cx="0" cy="0"/>
        </a:xfrm>
      </p:grpSpPr>
      <p:sp>
        <p:nvSpPr>
          <p:cNvPr id="34" name="Google Shape;34;p4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Font typeface="Geist"/>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titolo">
  <p:cSld name="2_Diapositiva titolo">
    <p:spTree>
      <p:nvGrpSpPr>
        <p:cNvPr id="39" name="Shape 39"/>
        <p:cNvGrpSpPr/>
        <p:nvPr/>
      </p:nvGrpSpPr>
      <p:grpSpPr>
        <a:xfrm>
          <a:off x="0" y="0"/>
          <a:ext cx="0" cy="0"/>
          <a:chOff x="0" y="0"/>
          <a:chExt cx="0" cy="0"/>
        </a:xfrm>
      </p:grpSpPr>
      <p:pic>
        <p:nvPicPr>
          <p:cNvPr descr="Immagine che contiene Elementi grafici, grafica, Carattere, schermata&#10;&#10;Descrizione generata automaticamente" id="40" name="Google Shape;40;p45"/>
          <p:cNvPicPr preferRelativeResize="0"/>
          <p:nvPr/>
        </p:nvPicPr>
        <p:blipFill rotWithShape="1">
          <a:blip r:embed="rId2">
            <a:alphaModFix/>
          </a:blip>
          <a:srcRect b="0" l="0" r="0" t="0"/>
          <a:stretch/>
        </p:blipFill>
        <p:spPr>
          <a:xfrm>
            <a:off x="9854250" y="6257183"/>
            <a:ext cx="1893825" cy="338184"/>
          </a:xfrm>
          <a:prstGeom prst="rect">
            <a:avLst/>
          </a:prstGeom>
          <a:noFill/>
          <a:ln>
            <a:noFill/>
          </a:ln>
        </p:spPr>
      </p:pic>
      <p:sp>
        <p:nvSpPr>
          <p:cNvPr id="41" name="Google Shape;41;p45"/>
          <p:cNvSpPr txBox="1"/>
          <p:nvPr>
            <p:ph type="ctrTitle"/>
          </p:nvPr>
        </p:nvSpPr>
        <p:spPr>
          <a:xfrm>
            <a:off x="581913" y="502995"/>
            <a:ext cx="8220850" cy="91217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80808"/>
              </a:buClr>
              <a:buSzPts val="5000"/>
              <a:buFont typeface="Geist"/>
              <a:buNone/>
              <a:defRPr b="1" sz="5000">
                <a:solidFill>
                  <a:srgbClr val="080808"/>
                </a:solidFill>
                <a:latin typeface="Geist"/>
                <a:ea typeface="Geist"/>
                <a:cs typeface="Geist"/>
                <a:sym typeface="Geis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5"/>
          <p:cNvSpPr txBox="1"/>
          <p:nvPr>
            <p:ph idx="1" type="body"/>
          </p:nvPr>
        </p:nvSpPr>
        <p:spPr>
          <a:xfrm>
            <a:off x="581913" y="1477895"/>
            <a:ext cx="8220850" cy="3856416"/>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1000"/>
              </a:spcBef>
              <a:spcAft>
                <a:spcPts val="0"/>
              </a:spcAft>
              <a:buClr>
                <a:schemeClr val="dk1"/>
              </a:buClr>
              <a:buSzPts val="2000"/>
              <a:buFont typeface="Geist"/>
              <a:buChar char="•"/>
              <a:defRPr sz="2000"/>
            </a:lvl1pPr>
            <a:lvl2pPr indent="-342900" lvl="1" marL="914400" algn="l">
              <a:lnSpc>
                <a:spcPct val="100000"/>
              </a:lnSpc>
              <a:spcBef>
                <a:spcPts val="500"/>
              </a:spcBef>
              <a:spcAft>
                <a:spcPts val="0"/>
              </a:spcAft>
              <a:buClr>
                <a:schemeClr val="dk1"/>
              </a:buClr>
              <a:buSzPts val="1800"/>
              <a:buChar char="▪"/>
              <a:defRPr sz="1800"/>
            </a:lvl2pPr>
            <a:lvl3pPr indent="-330200" lvl="2" marL="1371600" algn="l">
              <a:lnSpc>
                <a:spcPct val="100000"/>
              </a:lnSpc>
              <a:spcBef>
                <a:spcPts val="500"/>
              </a:spcBef>
              <a:spcAft>
                <a:spcPts val="0"/>
              </a:spcAft>
              <a:buClr>
                <a:schemeClr val="dk1"/>
              </a:buClr>
              <a:buSzPts val="1600"/>
              <a:buChar char="▪"/>
              <a:defRPr sz="1600"/>
            </a:lvl3pPr>
            <a:lvl4pPr indent="-317500" lvl="3" marL="1828800" algn="l">
              <a:lnSpc>
                <a:spcPct val="100000"/>
              </a:lnSpc>
              <a:spcBef>
                <a:spcPts val="500"/>
              </a:spcBef>
              <a:spcAft>
                <a:spcPts val="0"/>
              </a:spcAft>
              <a:buClr>
                <a:schemeClr val="dk1"/>
              </a:buClr>
              <a:buSzPts val="1400"/>
              <a:buChar char="▪"/>
              <a:defRPr sz="1400"/>
            </a:lvl4pPr>
            <a:lvl5pPr indent="-304800" lvl="4" marL="2286000" algn="l">
              <a:lnSpc>
                <a:spcPct val="10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3" name="Shape 43"/>
        <p:cNvGrpSpPr/>
        <p:nvPr/>
      </p:nvGrpSpPr>
      <p:grpSpPr>
        <a:xfrm>
          <a:off x="0" y="0"/>
          <a:ext cx="0" cy="0"/>
          <a:chOff x="0" y="0"/>
          <a:chExt cx="0" cy="0"/>
        </a:xfrm>
      </p:grpSpPr>
      <p:sp>
        <p:nvSpPr>
          <p:cNvPr id="44" name="Google Shape;44;p4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Geist"/>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4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Geist"/>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4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2" name="Shape 52"/>
        <p:cNvGrpSpPr/>
        <p:nvPr/>
      </p:nvGrpSpPr>
      <p:grpSpPr>
        <a:xfrm>
          <a:off x="0" y="0"/>
          <a:ext cx="0" cy="0"/>
          <a:chOff x="0" y="0"/>
          <a:chExt cx="0" cy="0"/>
        </a:xfrm>
      </p:grpSpPr>
      <p:sp>
        <p:nvSpPr>
          <p:cNvPr id="53" name="Google Shape;53;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titolo">
  <p:cSld name="1_Diapositiva titolo">
    <p:spTree>
      <p:nvGrpSpPr>
        <p:cNvPr id="56" name="Shape 56"/>
        <p:cNvGrpSpPr/>
        <p:nvPr/>
      </p:nvGrpSpPr>
      <p:grpSpPr>
        <a:xfrm>
          <a:off x="0" y="0"/>
          <a:ext cx="0" cy="0"/>
          <a:chOff x="0" y="0"/>
          <a:chExt cx="0" cy="0"/>
        </a:xfrm>
      </p:grpSpPr>
      <p:sp>
        <p:nvSpPr>
          <p:cNvPr id="57" name="Google Shape;57;p48"/>
          <p:cNvSpPr txBox="1"/>
          <p:nvPr>
            <p:ph idx="1" type="body"/>
          </p:nvPr>
        </p:nvSpPr>
        <p:spPr>
          <a:xfrm>
            <a:off x="568039" y="1498760"/>
            <a:ext cx="9042935" cy="405483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2000"/>
              <a:buFont typeface="Geist"/>
              <a:buNone/>
              <a:defRPr sz="2000">
                <a:solidFill>
                  <a:schemeClr val="dk1"/>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8" name="Google Shape;58;p48"/>
          <p:cNvSpPr txBox="1"/>
          <p:nvPr>
            <p:ph type="ctrTitle"/>
          </p:nvPr>
        </p:nvSpPr>
        <p:spPr>
          <a:xfrm>
            <a:off x="568039" y="502995"/>
            <a:ext cx="9042935" cy="91217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80808"/>
              </a:buClr>
              <a:buSzPts val="5000"/>
              <a:buFont typeface="Geist"/>
              <a:buNone/>
              <a:defRPr b="1" sz="5000">
                <a:solidFill>
                  <a:srgbClr val="080808"/>
                </a:solidFill>
                <a:latin typeface="Geist"/>
                <a:ea typeface="Geist"/>
                <a:cs typeface="Geist"/>
                <a:sym typeface="Geis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Immagine che contiene Elementi grafici, grafica, Carattere, schermata&#10;&#10;Descrizione generata automaticamente" id="59" name="Google Shape;59;p48"/>
          <p:cNvPicPr preferRelativeResize="0"/>
          <p:nvPr/>
        </p:nvPicPr>
        <p:blipFill rotWithShape="1">
          <a:blip r:embed="rId2">
            <a:alphaModFix/>
          </a:blip>
          <a:srcRect b="0" l="0" r="0" t="0"/>
          <a:stretch/>
        </p:blipFill>
        <p:spPr>
          <a:xfrm>
            <a:off x="9854250" y="6257183"/>
            <a:ext cx="1893825" cy="33818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60" name="Shape 60"/>
        <p:cNvGrpSpPr/>
        <p:nvPr/>
      </p:nvGrpSpPr>
      <p:grpSpPr>
        <a:xfrm>
          <a:off x="0" y="0"/>
          <a:ext cx="0" cy="0"/>
          <a:chOff x="0" y="0"/>
          <a:chExt cx="0" cy="0"/>
        </a:xfrm>
      </p:grpSpPr>
      <p:sp>
        <p:nvSpPr>
          <p:cNvPr id="61" name="Google Shape;61;p49"/>
          <p:cNvSpPr txBox="1"/>
          <p:nvPr>
            <p:ph type="title"/>
          </p:nvPr>
        </p:nvSpPr>
        <p:spPr>
          <a:xfrm>
            <a:off x="838200" y="259882"/>
            <a:ext cx="10515600" cy="14822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4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67" name="Shape 67"/>
        <p:cNvGrpSpPr/>
        <p:nvPr/>
      </p:nvGrpSpPr>
      <p:grpSpPr>
        <a:xfrm>
          <a:off x="0" y="0"/>
          <a:ext cx="0" cy="0"/>
          <a:chOff x="0" y="0"/>
          <a:chExt cx="0" cy="0"/>
        </a:xfrm>
      </p:grpSpPr>
      <p:sp>
        <p:nvSpPr>
          <p:cNvPr id="68" name="Google Shape;68;p50"/>
          <p:cNvSpPr txBox="1"/>
          <p:nvPr>
            <p:ph type="title"/>
          </p:nvPr>
        </p:nvSpPr>
        <p:spPr>
          <a:xfrm>
            <a:off x="838200" y="259882"/>
            <a:ext cx="10515600" cy="14822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72" name="Shape 72"/>
        <p:cNvGrpSpPr/>
        <p:nvPr/>
      </p:nvGrpSpPr>
      <p:grpSpPr>
        <a:xfrm>
          <a:off x="0" y="0"/>
          <a:ext cx="0" cy="0"/>
          <a:chOff x="0" y="0"/>
          <a:chExt cx="0" cy="0"/>
        </a:xfrm>
      </p:grpSpPr>
      <p:sp>
        <p:nvSpPr>
          <p:cNvPr id="73" name="Google Shape;73;p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Geist"/>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Geist"/>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5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Geist"/>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79" name="Shape 79"/>
        <p:cNvGrpSpPr/>
        <p:nvPr/>
      </p:nvGrpSpPr>
      <p:grpSpPr>
        <a:xfrm>
          <a:off x="0" y="0"/>
          <a:ext cx="0" cy="0"/>
          <a:chOff x="0" y="0"/>
          <a:chExt cx="0" cy="0"/>
        </a:xfrm>
      </p:grpSpPr>
      <p:sp>
        <p:nvSpPr>
          <p:cNvPr id="80" name="Google Shape;80;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Geist"/>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52"/>
          <p:cNvSpPr/>
          <p:nvPr>
            <p:ph idx="2" type="pic"/>
          </p:nvPr>
        </p:nvSpPr>
        <p:spPr>
          <a:xfrm>
            <a:off x="5183188" y="987425"/>
            <a:ext cx="6172200" cy="4873625"/>
          </a:xfrm>
          <a:prstGeom prst="rect">
            <a:avLst/>
          </a:prstGeom>
          <a:noFill/>
          <a:ln>
            <a:noFill/>
          </a:ln>
        </p:spPr>
      </p:sp>
      <p:sp>
        <p:nvSpPr>
          <p:cNvPr id="82" name="Google Shape;82;p5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Geist"/>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86" name="Shape 86"/>
        <p:cNvGrpSpPr/>
        <p:nvPr/>
      </p:nvGrpSpPr>
      <p:grpSpPr>
        <a:xfrm>
          <a:off x="0" y="0"/>
          <a:ext cx="0" cy="0"/>
          <a:chOff x="0" y="0"/>
          <a:chExt cx="0" cy="0"/>
        </a:xfrm>
      </p:grpSpPr>
      <p:sp>
        <p:nvSpPr>
          <p:cNvPr id="87" name="Google Shape;87;p53"/>
          <p:cNvSpPr txBox="1"/>
          <p:nvPr>
            <p:ph type="title"/>
          </p:nvPr>
        </p:nvSpPr>
        <p:spPr>
          <a:xfrm>
            <a:off x="838200" y="259882"/>
            <a:ext cx="10515600" cy="14822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53"/>
          <p:cNvSpPr txBox="1"/>
          <p:nvPr>
            <p:ph idx="1" type="body"/>
          </p:nvPr>
        </p:nvSpPr>
        <p:spPr>
          <a:xfrm rot="5400000">
            <a:off x="3920331" y="-1339958"/>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92" name="Shape 92"/>
        <p:cNvGrpSpPr/>
        <p:nvPr/>
      </p:nvGrpSpPr>
      <p:grpSpPr>
        <a:xfrm>
          <a:off x="0" y="0"/>
          <a:ext cx="0" cy="0"/>
          <a:chOff x="0" y="0"/>
          <a:chExt cx="0" cy="0"/>
        </a:xfrm>
      </p:grpSpPr>
      <p:sp>
        <p:nvSpPr>
          <p:cNvPr id="93" name="Google Shape;93;p5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5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p:cSld name="Diapositiva titolo">
    <p:spTree>
      <p:nvGrpSpPr>
        <p:cNvPr id="104" name="Shape 104"/>
        <p:cNvGrpSpPr/>
        <p:nvPr/>
      </p:nvGrpSpPr>
      <p:grpSpPr>
        <a:xfrm>
          <a:off x="0" y="0"/>
          <a:ext cx="0" cy="0"/>
          <a:chOff x="0" y="0"/>
          <a:chExt cx="0" cy="0"/>
        </a:xfrm>
      </p:grpSpPr>
      <p:sp>
        <p:nvSpPr>
          <p:cNvPr id="105" name="Google Shape;105;g3fd4779c472_4_119"/>
          <p:cNvSpPr txBox="1"/>
          <p:nvPr>
            <p:ph type="ctrTitle"/>
          </p:nvPr>
        </p:nvSpPr>
        <p:spPr>
          <a:xfrm>
            <a:off x="1524000" y="1465263"/>
            <a:ext cx="7905900" cy="330360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080808"/>
              </a:buClr>
              <a:buSzPts val="6000"/>
              <a:buFont typeface="Geist Black"/>
              <a:buNone/>
              <a:defRPr sz="6000">
                <a:solidFill>
                  <a:srgbClr val="080808"/>
                </a:solidFill>
                <a:latin typeface="Geist Black"/>
                <a:ea typeface="Geist Black"/>
                <a:cs typeface="Geist Black"/>
                <a:sym typeface="Geis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magine che contiene schermata, Policromia, Elementi grafici, arancione&#10;&#10;Descrizione generata automaticamente" id="106" name="Google Shape;106;g3fd4779c472_4_119"/>
          <p:cNvPicPr preferRelativeResize="0"/>
          <p:nvPr/>
        </p:nvPicPr>
        <p:blipFill rotWithShape="1">
          <a:blip r:embed="rId2">
            <a:alphaModFix/>
          </a:blip>
          <a:srcRect b="0" l="0" r="0" t="0"/>
          <a:stretch/>
        </p:blipFill>
        <p:spPr>
          <a:xfrm>
            <a:off x="0" y="0"/>
            <a:ext cx="12192000" cy="6858000"/>
          </a:xfrm>
          <a:prstGeom prst="rect">
            <a:avLst/>
          </a:prstGeom>
          <a:solidFill>
            <a:schemeClr val="dk2"/>
          </a:solidFill>
          <a:ln>
            <a:noFill/>
          </a:ln>
        </p:spPr>
      </p:pic>
      <p:grpSp>
        <p:nvGrpSpPr>
          <p:cNvPr id="107" name="Google Shape;107;g3fd4779c472_4_119"/>
          <p:cNvGrpSpPr/>
          <p:nvPr/>
        </p:nvGrpSpPr>
        <p:grpSpPr>
          <a:xfrm>
            <a:off x="9403915" y="6253380"/>
            <a:ext cx="2362247" cy="317921"/>
            <a:chOff x="3529477" y="82930"/>
            <a:chExt cx="1805723" cy="243022"/>
          </a:xfrm>
        </p:grpSpPr>
        <p:sp>
          <p:nvSpPr>
            <p:cNvPr id="108" name="Google Shape;108;g3fd4779c472_4_119"/>
            <p:cNvSpPr/>
            <p:nvPr/>
          </p:nvSpPr>
          <p:spPr>
            <a:xfrm>
              <a:off x="3529477" y="82930"/>
              <a:ext cx="198312" cy="239417"/>
            </a:xfrm>
            <a:custGeom>
              <a:rect b="b" l="l" r="r" t="t"/>
              <a:pathLst>
                <a:path extrusionOk="0" h="239417" w="198312">
                  <a:moveTo>
                    <a:pt x="36057" y="205524"/>
                  </a:moveTo>
                  <a:lnTo>
                    <a:pt x="83652" y="205524"/>
                  </a:lnTo>
                  <a:cubicBezTo>
                    <a:pt x="128362" y="205524"/>
                    <a:pt x="162256" y="170909"/>
                    <a:pt x="162256" y="120430"/>
                  </a:cubicBezTo>
                  <a:cubicBezTo>
                    <a:pt x="162256" y="69950"/>
                    <a:pt x="128362" y="35336"/>
                    <a:pt x="83652" y="35336"/>
                  </a:cubicBezTo>
                  <a:lnTo>
                    <a:pt x="36057" y="35336"/>
                  </a:lnTo>
                  <a:lnTo>
                    <a:pt x="36057" y="206245"/>
                  </a:lnTo>
                  <a:lnTo>
                    <a:pt x="36057" y="205524"/>
                  </a:lnTo>
                  <a:close/>
                  <a:moveTo>
                    <a:pt x="0" y="239417"/>
                  </a:moveTo>
                  <a:lnTo>
                    <a:pt x="0" y="0"/>
                  </a:lnTo>
                  <a:lnTo>
                    <a:pt x="83652" y="0"/>
                  </a:lnTo>
                  <a:cubicBezTo>
                    <a:pt x="148554" y="0"/>
                    <a:pt x="198312" y="49758"/>
                    <a:pt x="198312" y="119709"/>
                  </a:cubicBezTo>
                  <a:cubicBezTo>
                    <a:pt x="198312" y="189659"/>
                    <a:pt x="148554" y="239417"/>
                    <a:pt x="83652" y="239417"/>
                  </a:cubicBezTo>
                  <a:lnTo>
                    <a:pt x="0" y="23941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09" name="Google Shape;109;g3fd4779c472_4_119"/>
            <p:cNvSpPr/>
            <p:nvPr/>
          </p:nvSpPr>
          <p:spPr>
            <a:xfrm>
              <a:off x="3740049" y="148553"/>
              <a:ext cx="166582" cy="177399"/>
            </a:xfrm>
            <a:custGeom>
              <a:rect b="b" l="l" r="r" t="t"/>
              <a:pathLst>
                <a:path extrusionOk="0" h="177399" w="166582">
                  <a:moveTo>
                    <a:pt x="132689" y="173794"/>
                  </a:moveTo>
                  <a:lnTo>
                    <a:pt x="132689" y="155044"/>
                  </a:lnTo>
                  <a:lnTo>
                    <a:pt x="131247" y="155044"/>
                  </a:lnTo>
                  <a:cubicBezTo>
                    <a:pt x="127641" y="160092"/>
                    <a:pt x="111055" y="177399"/>
                    <a:pt x="78604" y="177399"/>
                  </a:cubicBezTo>
                  <a:cubicBezTo>
                    <a:pt x="46153" y="177399"/>
                    <a:pt x="0" y="143506"/>
                    <a:pt x="0" y="88700"/>
                  </a:cubicBezTo>
                  <a:cubicBezTo>
                    <a:pt x="0" y="33893"/>
                    <a:pt x="33893" y="0"/>
                    <a:pt x="78604" y="0"/>
                  </a:cubicBezTo>
                  <a:cubicBezTo>
                    <a:pt x="123314" y="0"/>
                    <a:pt x="125478" y="17307"/>
                    <a:pt x="131247" y="23797"/>
                  </a:cubicBezTo>
                  <a:lnTo>
                    <a:pt x="132689" y="23797"/>
                  </a:lnTo>
                  <a:lnTo>
                    <a:pt x="132689" y="3606"/>
                  </a:lnTo>
                  <a:lnTo>
                    <a:pt x="166582" y="3606"/>
                  </a:lnTo>
                  <a:lnTo>
                    <a:pt x="166582" y="174515"/>
                  </a:lnTo>
                  <a:lnTo>
                    <a:pt x="132689" y="174515"/>
                  </a:lnTo>
                  <a:lnTo>
                    <a:pt x="132689" y="173794"/>
                  </a:lnTo>
                  <a:close/>
                  <a:moveTo>
                    <a:pt x="83652" y="146391"/>
                  </a:moveTo>
                  <a:cubicBezTo>
                    <a:pt x="111055" y="146391"/>
                    <a:pt x="133410" y="124035"/>
                    <a:pt x="133410" y="87979"/>
                  </a:cubicBezTo>
                  <a:cubicBezTo>
                    <a:pt x="133410" y="51922"/>
                    <a:pt x="111055" y="29567"/>
                    <a:pt x="83652" y="29567"/>
                  </a:cubicBezTo>
                  <a:cubicBezTo>
                    <a:pt x="56249" y="29567"/>
                    <a:pt x="33893" y="51922"/>
                    <a:pt x="33893" y="87979"/>
                  </a:cubicBezTo>
                  <a:cubicBezTo>
                    <a:pt x="33893" y="124035"/>
                    <a:pt x="56249" y="146391"/>
                    <a:pt x="83652" y="1463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0" name="Google Shape;110;g3fd4779c472_4_119"/>
            <p:cNvSpPr/>
            <p:nvPr/>
          </p:nvSpPr>
          <p:spPr>
            <a:xfrm>
              <a:off x="3920333" y="104564"/>
              <a:ext cx="100238" cy="218504"/>
            </a:xfrm>
            <a:custGeom>
              <a:rect b="b" l="l" r="r" t="t"/>
              <a:pathLst>
                <a:path extrusionOk="0" h="218504" w="100238">
                  <a:moveTo>
                    <a:pt x="27403" y="182447"/>
                  </a:moveTo>
                  <a:lnTo>
                    <a:pt x="27403" y="80046"/>
                  </a:lnTo>
                  <a:lnTo>
                    <a:pt x="0" y="80046"/>
                  </a:lnTo>
                  <a:lnTo>
                    <a:pt x="0" y="47595"/>
                  </a:lnTo>
                  <a:lnTo>
                    <a:pt x="27403" y="47595"/>
                  </a:lnTo>
                  <a:lnTo>
                    <a:pt x="27403" y="0"/>
                  </a:lnTo>
                  <a:lnTo>
                    <a:pt x="61297" y="0"/>
                  </a:lnTo>
                  <a:lnTo>
                    <a:pt x="61297" y="47595"/>
                  </a:lnTo>
                  <a:lnTo>
                    <a:pt x="100238" y="47595"/>
                  </a:lnTo>
                  <a:lnTo>
                    <a:pt x="100238" y="80046"/>
                  </a:lnTo>
                  <a:lnTo>
                    <a:pt x="61297" y="80046"/>
                  </a:lnTo>
                  <a:lnTo>
                    <a:pt x="61297" y="177399"/>
                  </a:lnTo>
                  <a:cubicBezTo>
                    <a:pt x="61297" y="183890"/>
                    <a:pt x="64902" y="187495"/>
                    <a:pt x="71393" y="187495"/>
                  </a:cubicBezTo>
                  <a:lnTo>
                    <a:pt x="100238" y="187495"/>
                  </a:lnTo>
                  <a:lnTo>
                    <a:pt x="100238" y="218504"/>
                  </a:lnTo>
                  <a:lnTo>
                    <a:pt x="64181" y="218504"/>
                  </a:lnTo>
                  <a:cubicBezTo>
                    <a:pt x="39662" y="218504"/>
                    <a:pt x="26682" y="204803"/>
                    <a:pt x="26682" y="182447"/>
                  </a:cubicBezTo>
                  <a:lnTo>
                    <a:pt x="27403" y="18244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1" name="Google Shape;111;g3fd4779c472_4_119"/>
            <p:cNvSpPr/>
            <p:nvPr/>
          </p:nvSpPr>
          <p:spPr>
            <a:xfrm>
              <a:off x="4027061" y="148553"/>
              <a:ext cx="166582" cy="177399"/>
            </a:xfrm>
            <a:custGeom>
              <a:rect b="b" l="l" r="r" t="t"/>
              <a:pathLst>
                <a:path extrusionOk="0" h="177399" w="166582">
                  <a:moveTo>
                    <a:pt x="132689" y="173794"/>
                  </a:moveTo>
                  <a:lnTo>
                    <a:pt x="132689" y="155044"/>
                  </a:lnTo>
                  <a:lnTo>
                    <a:pt x="131247" y="155044"/>
                  </a:lnTo>
                  <a:cubicBezTo>
                    <a:pt x="127641" y="160092"/>
                    <a:pt x="111055" y="177399"/>
                    <a:pt x="78604" y="177399"/>
                  </a:cubicBezTo>
                  <a:cubicBezTo>
                    <a:pt x="46153" y="177399"/>
                    <a:pt x="0" y="143506"/>
                    <a:pt x="0" y="88700"/>
                  </a:cubicBezTo>
                  <a:cubicBezTo>
                    <a:pt x="0" y="33893"/>
                    <a:pt x="33893" y="0"/>
                    <a:pt x="78604" y="0"/>
                  </a:cubicBezTo>
                  <a:cubicBezTo>
                    <a:pt x="123314" y="0"/>
                    <a:pt x="125478" y="17307"/>
                    <a:pt x="131247" y="23797"/>
                  </a:cubicBezTo>
                  <a:lnTo>
                    <a:pt x="132689" y="23797"/>
                  </a:lnTo>
                  <a:lnTo>
                    <a:pt x="132689" y="3606"/>
                  </a:lnTo>
                  <a:lnTo>
                    <a:pt x="166582" y="3606"/>
                  </a:lnTo>
                  <a:lnTo>
                    <a:pt x="166582" y="174515"/>
                  </a:lnTo>
                  <a:lnTo>
                    <a:pt x="132689" y="174515"/>
                  </a:lnTo>
                  <a:lnTo>
                    <a:pt x="132689" y="173794"/>
                  </a:lnTo>
                  <a:close/>
                  <a:moveTo>
                    <a:pt x="83652" y="146391"/>
                  </a:moveTo>
                  <a:cubicBezTo>
                    <a:pt x="111055" y="146391"/>
                    <a:pt x="133410" y="124035"/>
                    <a:pt x="133410" y="87979"/>
                  </a:cubicBezTo>
                  <a:cubicBezTo>
                    <a:pt x="133410" y="51922"/>
                    <a:pt x="111055" y="29567"/>
                    <a:pt x="83652" y="29567"/>
                  </a:cubicBezTo>
                  <a:cubicBezTo>
                    <a:pt x="56248" y="29567"/>
                    <a:pt x="33893" y="51922"/>
                    <a:pt x="33893" y="87979"/>
                  </a:cubicBezTo>
                  <a:cubicBezTo>
                    <a:pt x="33893" y="124035"/>
                    <a:pt x="56248" y="146391"/>
                    <a:pt x="83652" y="1463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2" name="Google Shape;112;g3fd4779c472_4_119"/>
            <p:cNvSpPr/>
            <p:nvPr/>
          </p:nvSpPr>
          <p:spPr>
            <a:xfrm>
              <a:off x="4220325" y="82930"/>
              <a:ext cx="266099" cy="239417"/>
            </a:xfrm>
            <a:custGeom>
              <a:rect b="b" l="l" r="r" t="t"/>
              <a:pathLst>
                <a:path extrusionOk="0" h="239417" w="266099">
                  <a:moveTo>
                    <a:pt x="238696" y="36057"/>
                  </a:moveTo>
                  <a:lnTo>
                    <a:pt x="224994" y="36057"/>
                  </a:lnTo>
                  <a:lnTo>
                    <a:pt x="153602" y="239417"/>
                  </a:lnTo>
                  <a:lnTo>
                    <a:pt x="112497" y="239417"/>
                  </a:lnTo>
                  <a:lnTo>
                    <a:pt x="41105" y="36057"/>
                  </a:lnTo>
                  <a:lnTo>
                    <a:pt x="27403" y="36057"/>
                  </a:lnTo>
                  <a:lnTo>
                    <a:pt x="27403" y="239417"/>
                  </a:lnTo>
                  <a:lnTo>
                    <a:pt x="0" y="239417"/>
                  </a:lnTo>
                  <a:lnTo>
                    <a:pt x="0" y="0"/>
                  </a:lnTo>
                  <a:lnTo>
                    <a:pt x="56249" y="0"/>
                  </a:lnTo>
                  <a:lnTo>
                    <a:pt x="129804" y="208408"/>
                  </a:lnTo>
                  <a:lnTo>
                    <a:pt x="136295" y="208408"/>
                  </a:lnTo>
                  <a:lnTo>
                    <a:pt x="209851" y="0"/>
                  </a:lnTo>
                  <a:lnTo>
                    <a:pt x="238696" y="0"/>
                  </a:lnTo>
                  <a:lnTo>
                    <a:pt x="238696" y="36057"/>
                  </a:lnTo>
                  <a:lnTo>
                    <a:pt x="238696" y="36057"/>
                  </a:lnTo>
                  <a:close/>
                  <a:moveTo>
                    <a:pt x="238696" y="239417"/>
                  </a:moveTo>
                  <a:lnTo>
                    <a:pt x="238696" y="36057"/>
                  </a:lnTo>
                  <a:lnTo>
                    <a:pt x="266099" y="36057"/>
                  </a:lnTo>
                  <a:lnTo>
                    <a:pt x="266099" y="239417"/>
                  </a:lnTo>
                  <a:lnTo>
                    <a:pt x="238696" y="23941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3" name="Google Shape;113;g3fd4779c472_4_119"/>
            <p:cNvSpPr/>
            <p:nvPr/>
          </p:nvSpPr>
          <p:spPr>
            <a:xfrm>
              <a:off x="4503010" y="148553"/>
              <a:ext cx="160813" cy="177399"/>
            </a:xfrm>
            <a:custGeom>
              <a:rect b="b" l="l" r="r" t="t"/>
              <a:pathLst>
                <a:path extrusionOk="0" h="177399" w="160813">
                  <a:moveTo>
                    <a:pt x="133410" y="149996"/>
                  </a:moveTo>
                  <a:cubicBezTo>
                    <a:pt x="119709" y="167303"/>
                    <a:pt x="103122" y="177399"/>
                    <a:pt x="78604" y="177399"/>
                  </a:cubicBezTo>
                  <a:cubicBezTo>
                    <a:pt x="33893" y="177399"/>
                    <a:pt x="0" y="141343"/>
                    <a:pt x="0" y="88700"/>
                  </a:cubicBezTo>
                  <a:cubicBezTo>
                    <a:pt x="0" y="36057"/>
                    <a:pt x="33893" y="0"/>
                    <a:pt x="78604" y="0"/>
                  </a:cubicBezTo>
                  <a:cubicBezTo>
                    <a:pt x="123314" y="0"/>
                    <a:pt x="119709" y="10096"/>
                    <a:pt x="133410" y="27403"/>
                  </a:cubicBezTo>
                  <a:lnTo>
                    <a:pt x="134852" y="27403"/>
                  </a:lnTo>
                  <a:lnTo>
                    <a:pt x="134852" y="3606"/>
                  </a:lnTo>
                  <a:lnTo>
                    <a:pt x="160813" y="3606"/>
                  </a:lnTo>
                  <a:lnTo>
                    <a:pt x="160813" y="174515"/>
                  </a:lnTo>
                  <a:lnTo>
                    <a:pt x="134852" y="174515"/>
                  </a:lnTo>
                  <a:lnTo>
                    <a:pt x="134852" y="150717"/>
                  </a:lnTo>
                  <a:lnTo>
                    <a:pt x="133410" y="150717"/>
                  </a:lnTo>
                  <a:lnTo>
                    <a:pt x="133410" y="149996"/>
                  </a:lnTo>
                  <a:close/>
                  <a:moveTo>
                    <a:pt x="25961" y="88700"/>
                  </a:moveTo>
                  <a:cubicBezTo>
                    <a:pt x="25961" y="127641"/>
                    <a:pt x="51922" y="153602"/>
                    <a:pt x="80767" y="153602"/>
                  </a:cubicBezTo>
                  <a:cubicBezTo>
                    <a:pt x="109612" y="153602"/>
                    <a:pt x="135573" y="127641"/>
                    <a:pt x="135573" y="88700"/>
                  </a:cubicBezTo>
                  <a:cubicBezTo>
                    <a:pt x="135573" y="49758"/>
                    <a:pt x="109612" y="23797"/>
                    <a:pt x="80767" y="23797"/>
                  </a:cubicBezTo>
                  <a:cubicBezTo>
                    <a:pt x="51922" y="23797"/>
                    <a:pt x="25961" y="49758"/>
                    <a:pt x="25961" y="887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4" name="Google Shape;114;g3fd4779c472_4_119"/>
            <p:cNvSpPr/>
            <p:nvPr/>
          </p:nvSpPr>
          <p:spPr>
            <a:xfrm>
              <a:off x="4681852" y="147832"/>
              <a:ext cx="134852" cy="178120"/>
            </a:xfrm>
            <a:custGeom>
              <a:rect b="b" l="l" r="r" t="t"/>
              <a:pathLst>
                <a:path extrusionOk="0" h="178120" w="134852">
                  <a:moveTo>
                    <a:pt x="25240" y="125478"/>
                  </a:moveTo>
                  <a:cubicBezTo>
                    <a:pt x="25240" y="140621"/>
                    <a:pt x="40384" y="154323"/>
                    <a:pt x="67787" y="154323"/>
                  </a:cubicBezTo>
                  <a:cubicBezTo>
                    <a:pt x="95190" y="154323"/>
                    <a:pt x="108892" y="142064"/>
                    <a:pt x="108892" y="128362"/>
                  </a:cubicBezTo>
                  <a:cubicBezTo>
                    <a:pt x="108892" y="114661"/>
                    <a:pt x="100238" y="106728"/>
                    <a:pt x="80046" y="102401"/>
                  </a:cubicBezTo>
                  <a:lnTo>
                    <a:pt x="51201" y="97353"/>
                  </a:lnTo>
                  <a:cubicBezTo>
                    <a:pt x="20192" y="92305"/>
                    <a:pt x="3606" y="77162"/>
                    <a:pt x="3606" y="49758"/>
                  </a:cubicBezTo>
                  <a:cubicBezTo>
                    <a:pt x="3606" y="22355"/>
                    <a:pt x="24519" y="0"/>
                    <a:pt x="67066" y="0"/>
                  </a:cubicBezTo>
                  <a:cubicBezTo>
                    <a:pt x="109613" y="0"/>
                    <a:pt x="133410" y="25961"/>
                    <a:pt x="133410" y="52643"/>
                  </a:cubicBezTo>
                  <a:lnTo>
                    <a:pt x="107449" y="52643"/>
                  </a:lnTo>
                  <a:cubicBezTo>
                    <a:pt x="107449" y="37499"/>
                    <a:pt x="92306" y="23797"/>
                    <a:pt x="66345" y="23797"/>
                  </a:cubicBezTo>
                  <a:cubicBezTo>
                    <a:pt x="40384" y="23797"/>
                    <a:pt x="28845" y="36057"/>
                    <a:pt x="28845" y="49758"/>
                  </a:cubicBezTo>
                  <a:cubicBezTo>
                    <a:pt x="28845" y="63460"/>
                    <a:pt x="35336" y="69950"/>
                    <a:pt x="56249" y="73556"/>
                  </a:cubicBezTo>
                  <a:lnTo>
                    <a:pt x="85094" y="78604"/>
                  </a:lnTo>
                  <a:cubicBezTo>
                    <a:pt x="118987" y="85094"/>
                    <a:pt x="134852" y="100959"/>
                    <a:pt x="134852" y="128362"/>
                  </a:cubicBezTo>
                  <a:cubicBezTo>
                    <a:pt x="134852" y="155765"/>
                    <a:pt x="113218" y="178121"/>
                    <a:pt x="68508" y="178121"/>
                  </a:cubicBezTo>
                  <a:cubicBezTo>
                    <a:pt x="23798" y="178121"/>
                    <a:pt x="0" y="152160"/>
                    <a:pt x="0" y="125478"/>
                  </a:cubicBezTo>
                  <a:lnTo>
                    <a:pt x="25961" y="125478"/>
                  </a:lnTo>
                  <a:lnTo>
                    <a:pt x="25240" y="1254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5" name="Google Shape;115;g3fd4779c472_4_119"/>
            <p:cNvSpPr/>
            <p:nvPr/>
          </p:nvSpPr>
          <p:spPr>
            <a:xfrm>
              <a:off x="4819589" y="104564"/>
              <a:ext cx="92305" cy="217782"/>
            </a:xfrm>
            <a:custGeom>
              <a:rect b="b" l="l" r="r" t="t"/>
              <a:pathLst>
                <a:path extrusionOk="0" h="217782" w="92305">
                  <a:moveTo>
                    <a:pt x="27403" y="71392"/>
                  </a:moveTo>
                  <a:lnTo>
                    <a:pt x="0" y="71392"/>
                  </a:lnTo>
                  <a:lnTo>
                    <a:pt x="0" y="47595"/>
                  </a:lnTo>
                  <a:lnTo>
                    <a:pt x="27403" y="47595"/>
                  </a:lnTo>
                  <a:lnTo>
                    <a:pt x="27403" y="0"/>
                  </a:lnTo>
                  <a:lnTo>
                    <a:pt x="53364" y="0"/>
                  </a:lnTo>
                  <a:lnTo>
                    <a:pt x="53364" y="47595"/>
                  </a:lnTo>
                  <a:lnTo>
                    <a:pt x="92305" y="47595"/>
                  </a:lnTo>
                  <a:lnTo>
                    <a:pt x="92305" y="71392"/>
                  </a:lnTo>
                  <a:lnTo>
                    <a:pt x="53364" y="71392"/>
                  </a:lnTo>
                  <a:lnTo>
                    <a:pt x="53364" y="183890"/>
                  </a:lnTo>
                  <a:cubicBezTo>
                    <a:pt x="53364" y="190380"/>
                    <a:pt x="56970" y="193986"/>
                    <a:pt x="63460" y="193986"/>
                  </a:cubicBezTo>
                  <a:lnTo>
                    <a:pt x="92305" y="193986"/>
                  </a:lnTo>
                  <a:lnTo>
                    <a:pt x="92305" y="217783"/>
                  </a:lnTo>
                  <a:lnTo>
                    <a:pt x="58412" y="217783"/>
                  </a:lnTo>
                  <a:cubicBezTo>
                    <a:pt x="38941" y="217783"/>
                    <a:pt x="27403" y="206245"/>
                    <a:pt x="27403" y="188938"/>
                  </a:cubicBezTo>
                  <a:lnTo>
                    <a:pt x="27403" y="7139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6" name="Google Shape;116;g3fd4779c472_4_119"/>
            <p:cNvSpPr/>
            <p:nvPr/>
          </p:nvSpPr>
          <p:spPr>
            <a:xfrm>
              <a:off x="4927038" y="148553"/>
              <a:ext cx="160813" cy="177399"/>
            </a:xfrm>
            <a:custGeom>
              <a:rect b="b" l="l" r="r" t="t"/>
              <a:pathLst>
                <a:path extrusionOk="0" h="177399" w="160813">
                  <a:moveTo>
                    <a:pt x="155765" y="126199"/>
                  </a:moveTo>
                  <a:cubicBezTo>
                    <a:pt x="143506" y="158650"/>
                    <a:pt x="118266" y="177399"/>
                    <a:pt x="82209" y="177399"/>
                  </a:cubicBezTo>
                  <a:cubicBezTo>
                    <a:pt x="46153" y="177399"/>
                    <a:pt x="0" y="141343"/>
                    <a:pt x="0" y="88700"/>
                  </a:cubicBezTo>
                  <a:cubicBezTo>
                    <a:pt x="0" y="36057"/>
                    <a:pt x="36057" y="0"/>
                    <a:pt x="82209" y="0"/>
                  </a:cubicBezTo>
                  <a:cubicBezTo>
                    <a:pt x="128362" y="0"/>
                    <a:pt x="160813" y="33893"/>
                    <a:pt x="160813" y="82209"/>
                  </a:cubicBezTo>
                  <a:cubicBezTo>
                    <a:pt x="160813" y="130526"/>
                    <a:pt x="160813" y="93748"/>
                    <a:pt x="160092" y="96632"/>
                  </a:cubicBezTo>
                  <a:lnTo>
                    <a:pt x="160092" y="100959"/>
                  </a:lnTo>
                  <a:lnTo>
                    <a:pt x="25961" y="100959"/>
                  </a:lnTo>
                  <a:cubicBezTo>
                    <a:pt x="29567" y="133410"/>
                    <a:pt x="53364" y="153602"/>
                    <a:pt x="82209" y="153602"/>
                  </a:cubicBezTo>
                  <a:cubicBezTo>
                    <a:pt x="111055" y="153602"/>
                    <a:pt x="119709" y="143506"/>
                    <a:pt x="128362" y="126199"/>
                  </a:cubicBezTo>
                  <a:lnTo>
                    <a:pt x="155765" y="126199"/>
                  </a:lnTo>
                  <a:lnTo>
                    <a:pt x="155765" y="126199"/>
                  </a:lnTo>
                  <a:close/>
                  <a:moveTo>
                    <a:pt x="25961" y="76440"/>
                  </a:moveTo>
                  <a:lnTo>
                    <a:pt x="135574" y="76440"/>
                  </a:lnTo>
                  <a:cubicBezTo>
                    <a:pt x="134131" y="45432"/>
                    <a:pt x="111776" y="23797"/>
                    <a:pt x="82931" y="23797"/>
                  </a:cubicBezTo>
                  <a:cubicBezTo>
                    <a:pt x="54085" y="23797"/>
                    <a:pt x="30288" y="45432"/>
                    <a:pt x="26682" y="76440"/>
                  </a:cubicBezTo>
                  <a:lnTo>
                    <a:pt x="25961" y="764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7" name="Google Shape;117;g3fd4779c472_4_119"/>
            <p:cNvSpPr/>
            <p:nvPr/>
          </p:nvSpPr>
          <p:spPr>
            <a:xfrm>
              <a:off x="5108043" y="151438"/>
              <a:ext cx="88699" cy="170909"/>
            </a:xfrm>
            <a:custGeom>
              <a:rect b="b" l="l" r="r" t="t"/>
              <a:pathLst>
                <a:path extrusionOk="0" h="170909" w="88699">
                  <a:moveTo>
                    <a:pt x="25961" y="0"/>
                  </a:moveTo>
                  <a:lnTo>
                    <a:pt x="88700" y="0"/>
                  </a:lnTo>
                  <a:lnTo>
                    <a:pt x="88700" y="24519"/>
                  </a:lnTo>
                  <a:lnTo>
                    <a:pt x="25961" y="24519"/>
                  </a:lnTo>
                  <a:lnTo>
                    <a:pt x="25961" y="170909"/>
                  </a:lnTo>
                  <a:lnTo>
                    <a:pt x="0" y="170909"/>
                  </a:lnTo>
                  <a:lnTo>
                    <a:pt x="0" y="24519"/>
                  </a:lnTo>
                  <a:lnTo>
                    <a:pt x="25961" y="24519"/>
                  </a:lnTo>
                  <a:cubicBezTo>
                    <a:pt x="25961" y="24519"/>
                    <a:pt x="25961" y="0"/>
                    <a:pt x="2596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8" name="Google Shape;118;g3fd4779c472_4_119"/>
            <p:cNvSpPr/>
            <p:nvPr/>
          </p:nvSpPr>
          <p:spPr>
            <a:xfrm>
              <a:off x="5200348" y="147832"/>
              <a:ext cx="134852" cy="178120"/>
            </a:xfrm>
            <a:custGeom>
              <a:rect b="b" l="l" r="r" t="t"/>
              <a:pathLst>
                <a:path extrusionOk="0" h="178120" w="134852">
                  <a:moveTo>
                    <a:pt x="25240" y="125478"/>
                  </a:moveTo>
                  <a:cubicBezTo>
                    <a:pt x="25240" y="140621"/>
                    <a:pt x="40384" y="154323"/>
                    <a:pt x="67787" y="154323"/>
                  </a:cubicBezTo>
                  <a:cubicBezTo>
                    <a:pt x="95190" y="154323"/>
                    <a:pt x="108892" y="142064"/>
                    <a:pt x="108892" y="128362"/>
                  </a:cubicBezTo>
                  <a:cubicBezTo>
                    <a:pt x="108892" y="114661"/>
                    <a:pt x="100238" y="106728"/>
                    <a:pt x="80046" y="102401"/>
                  </a:cubicBezTo>
                  <a:lnTo>
                    <a:pt x="51201" y="97353"/>
                  </a:lnTo>
                  <a:cubicBezTo>
                    <a:pt x="20192" y="92305"/>
                    <a:pt x="3606" y="77162"/>
                    <a:pt x="3606" y="49758"/>
                  </a:cubicBezTo>
                  <a:cubicBezTo>
                    <a:pt x="3606" y="22355"/>
                    <a:pt x="24519" y="0"/>
                    <a:pt x="67066" y="0"/>
                  </a:cubicBezTo>
                  <a:cubicBezTo>
                    <a:pt x="109613" y="0"/>
                    <a:pt x="133410" y="25961"/>
                    <a:pt x="133410" y="52643"/>
                  </a:cubicBezTo>
                  <a:lnTo>
                    <a:pt x="107449" y="52643"/>
                  </a:lnTo>
                  <a:cubicBezTo>
                    <a:pt x="107449" y="37499"/>
                    <a:pt x="92305" y="23797"/>
                    <a:pt x="66345" y="23797"/>
                  </a:cubicBezTo>
                  <a:cubicBezTo>
                    <a:pt x="40384" y="23797"/>
                    <a:pt x="28845" y="36057"/>
                    <a:pt x="28845" y="49758"/>
                  </a:cubicBezTo>
                  <a:cubicBezTo>
                    <a:pt x="28845" y="63460"/>
                    <a:pt x="35336" y="69950"/>
                    <a:pt x="56248" y="73556"/>
                  </a:cubicBezTo>
                  <a:lnTo>
                    <a:pt x="85094" y="78604"/>
                  </a:lnTo>
                  <a:cubicBezTo>
                    <a:pt x="118987" y="85094"/>
                    <a:pt x="134852" y="100959"/>
                    <a:pt x="134852" y="128362"/>
                  </a:cubicBezTo>
                  <a:cubicBezTo>
                    <a:pt x="134852" y="155765"/>
                    <a:pt x="113218" y="178121"/>
                    <a:pt x="68508" y="178121"/>
                  </a:cubicBezTo>
                  <a:cubicBezTo>
                    <a:pt x="23797" y="178121"/>
                    <a:pt x="0" y="152160"/>
                    <a:pt x="0" y="125478"/>
                  </a:cubicBezTo>
                  <a:lnTo>
                    <a:pt x="25961" y="125478"/>
                  </a:lnTo>
                  <a:lnTo>
                    <a:pt x="25240" y="1254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2160">
          <p15:clr>
            <a:srgbClr val="FBAE40"/>
          </p15:clr>
        </p15:guide>
        <p15:guide id="2" pos="2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titolo">
  <p:cSld name="2_Diapositiva titolo">
    <p:spTree>
      <p:nvGrpSpPr>
        <p:cNvPr id="119" name="Shape 119"/>
        <p:cNvGrpSpPr/>
        <p:nvPr/>
      </p:nvGrpSpPr>
      <p:grpSpPr>
        <a:xfrm>
          <a:off x="0" y="0"/>
          <a:ext cx="0" cy="0"/>
          <a:chOff x="0" y="0"/>
          <a:chExt cx="0" cy="0"/>
        </a:xfrm>
      </p:grpSpPr>
      <p:sp>
        <p:nvSpPr>
          <p:cNvPr id="120" name="Google Shape;120;g3fd4779c472_4_134"/>
          <p:cNvSpPr/>
          <p:nvPr/>
        </p:nvSpPr>
        <p:spPr>
          <a:xfrm>
            <a:off x="0" y="2897298"/>
            <a:ext cx="9099879" cy="9279601"/>
          </a:xfrm>
          <a:custGeom>
            <a:rect b="b" l="l" r="r" t="t"/>
            <a:pathLst>
              <a:path extrusionOk="0" h="409605" w="401672">
                <a:moveTo>
                  <a:pt x="401673" y="204803"/>
                </a:moveTo>
                <a:cubicBezTo>
                  <a:pt x="401673" y="318021"/>
                  <a:pt x="310088" y="409605"/>
                  <a:pt x="196870" y="409605"/>
                </a:cubicBezTo>
                <a:lnTo>
                  <a:pt x="0" y="409605"/>
                </a:lnTo>
                <a:lnTo>
                  <a:pt x="0" y="0"/>
                </a:lnTo>
                <a:lnTo>
                  <a:pt x="196870" y="0"/>
                </a:lnTo>
                <a:cubicBezTo>
                  <a:pt x="310088" y="0"/>
                  <a:pt x="401673" y="91584"/>
                  <a:pt x="401673" y="204803"/>
                </a:cubicBezTo>
                <a:close/>
                <a:moveTo>
                  <a:pt x="240859" y="64181"/>
                </a:moveTo>
                <a:lnTo>
                  <a:pt x="60575" y="64181"/>
                </a:lnTo>
                <a:lnTo>
                  <a:pt x="60575" y="114661"/>
                </a:lnTo>
                <a:lnTo>
                  <a:pt x="240859" y="114661"/>
                </a:lnTo>
                <a:lnTo>
                  <a:pt x="240859" y="174515"/>
                </a:lnTo>
                <a:lnTo>
                  <a:pt x="60575" y="174515"/>
                </a:lnTo>
                <a:lnTo>
                  <a:pt x="60575" y="234369"/>
                </a:lnTo>
                <a:lnTo>
                  <a:pt x="240859" y="234369"/>
                </a:lnTo>
                <a:lnTo>
                  <a:pt x="240859" y="294223"/>
                </a:lnTo>
                <a:lnTo>
                  <a:pt x="60575" y="294223"/>
                </a:lnTo>
                <a:lnTo>
                  <a:pt x="60575" y="344703"/>
                </a:lnTo>
                <a:lnTo>
                  <a:pt x="240859" y="344703"/>
                </a:lnTo>
                <a:lnTo>
                  <a:pt x="240859" y="294223"/>
                </a:lnTo>
                <a:lnTo>
                  <a:pt x="300714" y="294223"/>
                </a:lnTo>
                <a:lnTo>
                  <a:pt x="300714" y="234369"/>
                </a:lnTo>
                <a:lnTo>
                  <a:pt x="240859" y="234369"/>
                </a:lnTo>
                <a:lnTo>
                  <a:pt x="240859" y="174515"/>
                </a:lnTo>
                <a:lnTo>
                  <a:pt x="300714" y="174515"/>
                </a:lnTo>
                <a:lnTo>
                  <a:pt x="300714" y="114661"/>
                </a:lnTo>
                <a:lnTo>
                  <a:pt x="240859" y="114661"/>
                </a:lnTo>
                <a:lnTo>
                  <a:pt x="240859" y="64181"/>
                </a:lnTo>
                <a:close/>
              </a:path>
            </a:pathLst>
          </a:custGeom>
          <a:solidFill>
            <a:srgbClr val="E5E5E5">
              <a:alpha val="325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dk1"/>
              </a:solidFill>
              <a:latin typeface="Arial"/>
              <a:ea typeface="Arial"/>
              <a:cs typeface="Arial"/>
              <a:sym typeface="Arial"/>
            </a:endParaRPr>
          </a:p>
        </p:txBody>
      </p:sp>
      <p:pic>
        <p:nvPicPr>
          <p:cNvPr descr="Immagine che contiene Elementi grafici, grafica, Carattere, schermata&#10;&#10;Descrizione generata automaticamente" id="121" name="Google Shape;121;g3fd4779c472_4_134"/>
          <p:cNvPicPr preferRelativeResize="0"/>
          <p:nvPr/>
        </p:nvPicPr>
        <p:blipFill rotWithShape="1">
          <a:blip r:embed="rId2">
            <a:alphaModFix/>
          </a:blip>
          <a:srcRect b="0" l="0" r="0" t="0"/>
          <a:stretch/>
        </p:blipFill>
        <p:spPr>
          <a:xfrm>
            <a:off x="530873" y="6409258"/>
            <a:ext cx="1893824" cy="338184"/>
          </a:xfrm>
          <a:prstGeom prst="rect">
            <a:avLst/>
          </a:prstGeom>
          <a:noFill/>
          <a:ln>
            <a:noFill/>
          </a:ln>
        </p:spPr>
      </p:pic>
      <p:sp>
        <p:nvSpPr>
          <p:cNvPr id="122" name="Google Shape;122;g3fd4779c472_4_134"/>
          <p:cNvSpPr txBox="1"/>
          <p:nvPr/>
        </p:nvSpPr>
        <p:spPr>
          <a:xfrm>
            <a:off x="443925" y="6077954"/>
            <a:ext cx="2493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Geist Mono"/>
              <a:buNone/>
            </a:pPr>
            <a:r>
              <a:rPr b="1" i="0" lang="it-IT" sz="1000" u="none" cap="none" strike="noStrike">
                <a:solidFill>
                  <a:schemeClr val="dk2"/>
                </a:solidFill>
                <a:latin typeface="Geist Mono"/>
                <a:ea typeface="Geist Mono"/>
                <a:cs typeface="Geist Mono"/>
                <a:sym typeface="Geist Mono"/>
              </a:rPr>
              <a:t>INTRO n8n</a:t>
            </a:r>
            <a:endParaRPr b="0" i="0" sz="1800" u="none" cap="none" strike="noStrike">
              <a:solidFill>
                <a:schemeClr val="dk1"/>
              </a:solidFill>
              <a:latin typeface="Geist Mono"/>
              <a:ea typeface="Geist Mono"/>
              <a:cs typeface="Geist Mono"/>
              <a:sym typeface="Geist Mono"/>
            </a:endParaRPr>
          </a:p>
        </p:txBody>
      </p:sp>
      <p:sp>
        <p:nvSpPr>
          <p:cNvPr id="123" name="Google Shape;123;g3fd4779c472_4_134"/>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80808"/>
              </a:buClr>
              <a:buSzPts val="5000"/>
              <a:buFont typeface="Geist"/>
              <a:buNone/>
              <a:defRPr b="1" sz="5000">
                <a:solidFill>
                  <a:srgbClr val="080808"/>
                </a:solidFill>
                <a:latin typeface="Geist"/>
                <a:ea typeface="Geist"/>
                <a:cs typeface="Geist"/>
                <a:sym typeface="Geis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g3fd4779c472_4_134"/>
          <p:cNvSpPr txBox="1"/>
          <p:nvPr>
            <p:ph idx="1" type="body"/>
          </p:nvPr>
        </p:nvSpPr>
        <p:spPr>
          <a:xfrm>
            <a:off x="581913" y="1477895"/>
            <a:ext cx="8220900" cy="3856500"/>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1000"/>
              </a:spcBef>
              <a:spcAft>
                <a:spcPts val="0"/>
              </a:spcAft>
              <a:buClr>
                <a:schemeClr val="dk1"/>
              </a:buClr>
              <a:buSzPts val="2000"/>
              <a:buFont typeface="Geist"/>
              <a:buChar char="•"/>
              <a:defRPr sz="2000"/>
            </a:lvl1pPr>
            <a:lvl2pPr indent="-342900" lvl="1" marL="914400" algn="l">
              <a:lnSpc>
                <a:spcPct val="100000"/>
              </a:lnSpc>
              <a:spcBef>
                <a:spcPts val="500"/>
              </a:spcBef>
              <a:spcAft>
                <a:spcPts val="0"/>
              </a:spcAft>
              <a:buClr>
                <a:schemeClr val="dk1"/>
              </a:buClr>
              <a:buSzPts val="1800"/>
              <a:buChar char="▪"/>
              <a:defRPr sz="1800"/>
            </a:lvl2pPr>
            <a:lvl3pPr indent="-330200" lvl="2" marL="1371600" algn="l">
              <a:lnSpc>
                <a:spcPct val="100000"/>
              </a:lnSpc>
              <a:spcBef>
                <a:spcPts val="500"/>
              </a:spcBef>
              <a:spcAft>
                <a:spcPts val="0"/>
              </a:spcAft>
              <a:buClr>
                <a:schemeClr val="dk1"/>
              </a:buClr>
              <a:buSzPts val="1600"/>
              <a:buChar char="▪"/>
              <a:defRPr sz="1600"/>
            </a:lvl3pPr>
            <a:lvl4pPr indent="-317500" lvl="3" marL="1828800" algn="l">
              <a:lnSpc>
                <a:spcPct val="100000"/>
              </a:lnSpc>
              <a:spcBef>
                <a:spcPts val="500"/>
              </a:spcBef>
              <a:spcAft>
                <a:spcPts val="0"/>
              </a:spcAft>
              <a:buClr>
                <a:schemeClr val="dk1"/>
              </a:buClr>
              <a:buSzPts val="1400"/>
              <a:buChar char="▪"/>
              <a:defRPr sz="1400"/>
            </a:lvl4pPr>
            <a:lvl5pPr indent="-304800" lvl="4" marL="2286000" algn="l">
              <a:lnSpc>
                <a:spcPct val="10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125" name="Shape 125"/>
        <p:cNvGrpSpPr/>
        <p:nvPr/>
      </p:nvGrpSpPr>
      <p:grpSpPr>
        <a:xfrm>
          <a:off x="0" y="0"/>
          <a:ext cx="0" cy="0"/>
          <a:chOff x="0" y="0"/>
          <a:chExt cx="0" cy="0"/>
        </a:xfrm>
      </p:grpSpPr>
      <p:sp>
        <p:nvSpPr>
          <p:cNvPr id="126" name="Google Shape;126;g3fd4779c472_4_1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fd4779c472_4_1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fd4779c472_4_1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titolo">
  <p:cSld name="1_Diapositiva titolo">
    <p:spTree>
      <p:nvGrpSpPr>
        <p:cNvPr id="129" name="Shape 129"/>
        <p:cNvGrpSpPr/>
        <p:nvPr/>
      </p:nvGrpSpPr>
      <p:grpSpPr>
        <a:xfrm>
          <a:off x="0" y="0"/>
          <a:ext cx="0" cy="0"/>
          <a:chOff x="0" y="0"/>
          <a:chExt cx="0" cy="0"/>
        </a:xfrm>
      </p:grpSpPr>
      <p:sp>
        <p:nvSpPr>
          <p:cNvPr id="130" name="Google Shape;130;g3fd4779c472_4_144"/>
          <p:cNvSpPr txBox="1"/>
          <p:nvPr>
            <p:ph idx="1" type="body"/>
          </p:nvPr>
        </p:nvSpPr>
        <p:spPr>
          <a:xfrm>
            <a:off x="568039" y="1498760"/>
            <a:ext cx="9042900" cy="40548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2000"/>
              <a:buFont typeface="Geist"/>
              <a:buNone/>
              <a:defRPr sz="2000">
                <a:solidFill>
                  <a:schemeClr val="dk1"/>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31" name="Google Shape;131;g3fd4779c472_4_144"/>
          <p:cNvSpPr txBox="1"/>
          <p:nvPr>
            <p:ph type="ctrTitle"/>
          </p:nvPr>
        </p:nvSpPr>
        <p:spPr>
          <a:xfrm>
            <a:off x="568039" y="502995"/>
            <a:ext cx="9042900" cy="91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80808"/>
              </a:buClr>
              <a:buSzPts val="5000"/>
              <a:buFont typeface="Geist"/>
              <a:buNone/>
              <a:defRPr b="1" sz="5000">
                <a:solidFill>
                  <a:srgbClr val="080808"/>
                </a:solidFill>
                <a:latin typeface="Geist"/>
                <a:ea typeface="Geist"/>
                <a:cs typeface="Geist"/>
                <a:sym typeface="Geis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g3fd4779c472_4_144"/>
          <p:cNvSpPr/>
          <p:nvPr/>
        </p:nvSpPr>
        <p:spPr>
          <a:xfrm>
            <a:off x="0" y="2897298"/>
            <a:ext cx="9099879" cy="9279601"/>
          </a:xfrm>
          <a:custGeom>
            <a:rect b="b" l="l" r="r" t="t"/>
            <a:pathLst>
              <a:path extrusionOk="0" h="409605" w="401672">
                <a:moveTo>
                  <a:pt x="401673" y="204803"/>
                </a:moveTo>
                <a:cubicBezTo>
                  <a:pt x="401673" y="318021"/>
                  <a:pt x="310088" y="409605"/>
                  <a:pt x="196870" y="409605"/>
                </a:cubicBezTo>
                <a:lnTo>
                  <a:pt x="0" y="409605"/>
                </a:lnTo>
                <a:lnTo>
                  <a:pt x="0" y="0"/>
                </a:lnTo>
                <a:lnTo>
                  <a:pt x="196870" y="0"/>
                </a:lnTo>
                <a:cubicBezTo>
                  <a:pt x="310088" y="0"/>
                  <a:pt x="401673" y="91584"/>
                  <a:pt x="401673" y="204803"/>
                </a:cubicBezTo>
                <a:close/>
                <a:moveTo>
                  <a:pt x="240859" y="64181"/>
                </a:moveTo>
                <a:lnTo>
                  <a:pt x="60575" y="64181"/>
                </a:lnTo>
                <a:lnTo>
                  <a:pt x="60575" y="114661"/>
                </a:lnTo>
                <a:lnTo>
                  <a:pt x="240859" y="114661"/>
                </a:lnTo>
                <a:lnTo>
                  <a:pt x="240859" y="174515"/>
                </a:lnTo>
                <a:lnTo>
                  <a:pt x="60575" y="174515"/>
                </a:lnTo>
                <a:lnTo>
                  <a:pt x="60575" y="234369"/>
                </a:lnTo>
                <a:lnTo>
                  <a:pt x="240859" y="234369"/>
                </a:lnTo>
                <a:lnTo>
                  <a:pt x="240859" y="294223"/>
                </a:lnTo>
                <a:lnTo>
                  <a:pt x="60575" y="294223"/>
                </a:lnTo>
                <a:lnTo>
                  <a:pt x="60575" y="344703"/>
                </a:lnTo>
                <a:lnTo>
                  <a:pt x="240859" y="344703"/>
                </a:lnTo>
                <a:lnTo>
                  <a:pt x="240859" y="294223"/>
                </a:lnTo>
                <a:lnTo>
                  <a:pt x="300714" y="294223"/>
                </a:lnTo>
                <a:lnTo>
                  <a:pt x="300714" y="234369"/>
                </a:lnTo>
                <a:lnTo>
                  <a:pt x="240859" y="234369"/>
                </a:lnTo>
                <a:lnTo>
                  <a:pt x="240859" y="174515"/>
                </a:lnTo>
                <a:lnTo>
                  <a:pt x="300714" y="174515"/>
                </a:lnTo>
                <a:lnTo>
                  <a:pt x="300714" y="114661"/>
                </a:lnTo>
                <a:lnTo>
                  <a:pt x="240859" y="114661"/>
                </a:lnTo>
                <a:lnTo>
                  <a:pt x="240859" y="64181"/>
                </a:lnTo>
                <a:close/>
              </a:path>
            </a:pathLst>
          </a:custGeom>
          <a:solidFill>
            <a:srgbClr val="E5E5E5">
              <a:alpha val="325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dk1"/>
              </a:solidFill>
              <a:latin typeface="Arial"/>
              <a:ea typeface="Arial"/>
              <a:cs typeface="Arial"/>
              <a:sym typeface="Arial"/>
            </a:endParaRPr>
          </a:p>
        </p:txBody>
      </p:sp>
      <p:pic>
        <p:nvPicPr>
          <p:cNvPr descr="Immagine che contiene Elementi grafici, grafica, Carattere, schermata&#10;&#10;Descrizione generata automaticamente" id="133" name="Google Shape;133;g3fd4779c472_4_144"/>
          <p:cNvPicPr preferRelativeResize="0"/>
          <p:nvPr/>
        </p:nvPicPr>
        <p:blipFill rotWithShape="1">
          <a:blip r:embed="rId2">
            <a:alphaModFix/>
          </a:blip>
          <a:srcRect b="0" l="0" r="0" t="0"/>
          <a:stretch/>
        </p:blipFill>
        <p:spPr>
          <a:xfrm>
            <a:off x="9854250" y="6257183"/>
            <a:ext cx="1893824" cy="338184"/>
          </a:xfrm>
          <a:prstGeom prst="rect">
            <a:avLst/>
          </a:prstGeom>
          <a:noFill/>
          <a:ln>
            <a:noFill/>
          </a:ln>
        </p:spPr>
      </p:pic>
      <p:sp>
        <p:nvSpPr>
          <p:cNvPr id="134" name="Google Shape;134;g3fd4779c472_4_144"/>
          <p:cNvSpPr txBox="1"/>
          <p:nvPr/>
        </p:nvSpPr>
        <p:spPr>
          <a:xfrm>
            <a:off x="443925" y="6180054"/>
            <a:ext cx="2493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Geist Mono"/>
              <a:buNone/>
            </a:pPr>
            <a:r>
              <a:rPr b="1" i="0" lang="it-IT" sz="1000" u="none" cap="none" strike="noStrike">
                <a:solidFill>
                  <a:schemeClr val="dk2"/>
                </a:solidFill>
                <a:latin typeface="Geist Mono"/>
                <a:ea typeface="Geist Mono"/>
                <a:cs typeface="Geist Mono"/>
                <a:sym typeface="Geist Mono"/>
              </a:rPr>
              <a:t>NOME MODULO DIDATTCO O LEZIONE</a:t>
            </a:r>
            <a:endParaRPr b="0" i="0" sz="1800" u="none" cap="none" strike="noStrike">
              <a:solidFill>
                <a:schemeClr val="dk1"/>
              </a:solidFill>
              <a:latin typeface="Geist Mono"/>
              <a:ea typeface="Geist Mono"/>
              <a:cs typeface="Geist Mono"/>
              <a:sym typeface="Geist Mon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135" name="Shape 135"/>
        <p:cNvGrpSpPr/>
        <p:nvPr/>
      </p:nvGrpSpPr>
      <p:grpSpPr>
        <a:xfrm>
          <a:off x="0" y="0"/>
          <a:ext cx="0" cy="0"/>
          <a:chOff x="0" y="0"/>
          <a:chExt cx="0" cy="0"/>
        </a:xfrm>
      </p:grpSpPr>
      <p:sp>
        <p:nvSpPr>
          <p:cNvPr id="136" name="Google Shape;136;g3fd4779c472_4_150"/>
          <p:cNvSpPr/>
          <p:nvPr/>
        </p:nvSpPr>
        <p:spPr>
          <a:xfrm>
            <a:off x="0" y="2897298"/>
            <a:ext cx="9099879" cy="9279601"/>
          </a:xfrm>
          <a:custGeom>
            <a:rect b="b" l="l" r="r" t="t"/>
            <a:pathLst>
              <a:path extrusionOk="0" h="409605" w="401672">
                <a:moveTo>
                  <a:pt x="401673" y="204803"/>
                </a:moveTo>
                <a:cubicBezTo>
                  <a:pt x="401673" y="318021"/>
                  <a:pt x="310088" y="409605"/>
                  <a:pt x="196870" y="409605"/>
                </a:cubicBezTo>
                <a:lnTo>
                  <a:pt x="0" y="409605"/>
                </a:lnTo>
                <a:lnTo>
                  <a:pt x="0" y="0"/>
                </a:lnTo>
                <a:lnTo>
                  <a:pt x="196870" y="0"/>
                </a:lnTo>
                <a:cubicBezTo>
                  <a:pt x="310088" y="0"/>
                  <a:pt x="401673" y="91584"/>
                  <a:pt x="401673" y="204803"/>
                </a:cubicBezTo>
                <a:close/>
                <a:moveTo>
                  <a:pt x="240859" y="64181"/>
                </a:moveTo>
                <a:lnTo>
                  <a:pt x="60575" y="64181"/>
                </a:lnTo>
                <a:lnTo>
                  <a:pt x="60575" y="114661"/>
                </a:lnTo>
                <a:lnTo>
                  <a:pt x="240859" y="114661"/>
                </a:lnTo>
                <a:lnTo>
                  <a:pt x="240859" y="174515"/>
                </a:lnTo>
                <a:lnTo>
                  <a:pt x="60575" y="174515"/>
                </a:lnTo>
                <a:lnTo>
                  <a:pt x="60575" y="234369"/>
                </a:lnTo>
                <a:lnTo>
                  <a:pt x="240859" y="234369"/>
                </a:lnTo>
                <a:lnTo>
                  <a:pt x="240859" y="294223"/>
                </a:lnTo>
                <a:lnTo>
                  <a:pt x="60575" y="294223"/>
                </a:lnTo>
                <a:lnTo>
                  <a:pt x="60575" y="344703"/>
                </a:lnTo>
                <a:lnTo>
                  <a:pt x="240859" y="344703"/>
                </a:lnTo>
                <a:lnTo>
                  <a:pt x="240859" y="294223"/>
                </a:lnTo>
                <a:lnTo>
                  <a:pt x="300714" y="294223"/>
                </a:lnTo>
                <a:lnTo>
                  <a:pt x="300714" y="234369"/>
                </a:lnTo>
                <a:lnTo>
                  <a:pt x="240859" y="234369"/>
                </a:lnTo>
                <a:lnTo>
                  <a:pt x="240859" y="174515"/>
                </a:lnTo>
                <a:lnTo>
                  <a:pt x="300714" y="174515"/>
                </a:lnTo>
                <a:lnTo>
                  <a:pt x="300714" y="114661"/>
                </a:lnTo>
                <a:lnTo>
                  <a:pt x="240859" y="114661"/>
                </a:lnTo>
                <a:lnTo>
                  <a:pt x="240859" y="64181"/>
                </a:lnTo>
                <a:close/>
              </a:path>
            </a:pathLst>
          </a:custGeom>
          <a:solidFill>
            <a:srgbClr val="E5E5E5">
              <a:alpha val="325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dk1"/>
              </a:solidFill>
              <a:latin typeface="Arial"/>
              <a:ea typeface="Arial"/>
              <a:cs typeface="Arial"/>
              <a:sym typeface="Arial"/>
            </a:endParaRPr>
          </a:p>
        </p:txBody>
      </p:sp>
      <p:pic>
        <p:nvPicPr>
          <p:cNvPr descr="Immagine che contiene Elementi grafici, grafica, Carattere, schermata&#10;&#10;Descrizione generata automaticamente" id="137" name="Google Shape;137;g3fd4779c472_4_150"/>
          <p:cNvPicPr preferRelativeResize="0"/>
          <p:nvPr/>
        </p:nvPicPr>
        <p:blipFill rotWithShape="1">
          <a:blip r:embed="rId2">
            <a:alphaModFix/>
          </a:blip>
          <a:srcRect b="0" l="0" r="0" t="0"/>
          <a:stretch/>
        </p:blipFill>
        <p:spPr>
          <a:xfrm>
            <a:off x="9854250" y="6257183"/>
            <a:ext cx="1893824" cy="338184"/>
          </a:xfrm>
          <a:prstGeom prst="rect">
            <a:avLst/>
          </a:prstGeom>
          <a:noFill/>
          <a:ln>
            <a:noFill/>
          </a:ln>
        </p:spPr>
      </p:pic>
      <p:sp>
        <p:nvSpPr>
          <p:cNvPr id="138" name="Google Shape;138;g3fd4779c472_4_150"/>
          <p:cNvSpPr txBox="1"/>
          <p:nvPr/>
        </p:nvSpPr>
        <p:spPr>
          <a:xfrm>
            <a:off x="443925" y="6180054"/>
            <a:ext cx="2493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Geist Mono"/>
              <a:buNone/>
            </a:pPr>
            <a:r>
              <a:rPr b="1" i="0" lang="it-IT" sz="1000" u="none" cap="none" strike="noStrike">
                <a:solidFill>
                  <a:schemeClr val="dk2"/>
                </a:solidFill>
                <a:latin typeface="Geist Mono"/>
                <a:ea typeface="Geist Mono"/>
                <a:cs typeface="Geist Mono"/>
                <a:sym typeface="Geist Mono"/>
              </a:rPr>
              <a:t>NOME MODULO DIDATTCO O LEZIONE</a:t>
            </a:r>
            <a:endParaRPr b="0" i="0" sz="1800" u="none" cap="none" strike="noStrike">
              <a:solidFill>
                <a:schemeClr val="dk1"/>
              </a:solidFill>
              <a:latin typeface="Geist Mono"/>
              <a:ea typeface="Geist Mono"/>
              <a:cs typeface="Geist Mono"/>
              <a:sym typeface="Geist Mono"/>
            </a:endParaRPr>
          </a:p>
        </p:txBody>
      </p:sp>
      <p:sp>
        <p:nvSpPr>
          <p:cNvPr id="139" name="Google Shape;139;g3fd4779c472_4_150"/>
          <p:cNvSpPr txBox="1"/>
          <p:nvPr>
            <p:ph type="title"/>
          </p:nvPr>
        </p:nvSpPr>
        <p:spPr>
          <a:xfrm>
            <a:off x="551884" y="259882"/>
            <a:ext cx="10515600" cy="148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3fd4779c472_4_150"/>
          <p:cNvSpPr txBox="1"/>
          <p:nvPr>
            <p:ph idx="1" type="body"/>
          </p:nvPr>
        </p:nvSpPr>
        <p:spPr>
          <a:xfrm>
            <a:off x="551884" y="2305346"/>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g3fd4779c472_4_15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fd4779c472_4_1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g3fd4779c472_4_1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144" name="Shape 144"/>
        <p:cNvGrpSpPr/>
        <p:nvPr/>
      </p:nvGrpSpPr>
      <p:grpSpPr>
        <a:xfrm>
          <a:off x="0" y="0"/>
          <a:ext cx="0" cy="0"/>
          <a:chOff x="0" y="0"/>
          <a:chExt cx="0" cy="0"/>
        </a:xfrm>
      </p:grpSpPr>
      <p:sp>
        <p:nvSpPr>
          <p:cNvPr id="145" name="Google Shape;145;g3fd4779c472_4_159"/>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3fd4779c472_4_159"/>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Font typeface="Geist"/>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47" name="Google Shape;147;g3fd4779c472_4_15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3fd4779c472_4_1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g3fd4779c472_4_1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50" name="Shape 150"/>
        <p:cNvGrpSpPr/>
        <p:nvPr/>
      </p:nvGrpSpPr>
      <p:grpSpPr>
        <a:xfrm>
          <a:off x="0" y="0"/>
          <a:ext cx="0" cy="0"/>
          <a:chOff x="0" y="0"/>
          <a:chExt cx="0" cy="0"/>
        </a:xfrm>
      </p:grpSpPr>
      <p:sp>
        <p:nvSpPr>
          <p:cNvPr id="151" name="Google Shape;151;g3fd4779c472_4_165"/>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3fd4779c472_4_165"/>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g3fd4779c472_4_165"/>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g3fd4779c472_4_16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3fd4779c472_4_1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g3fd4779c472_4_1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157" name="Shape 157"/>
        <p:cNvGrpSpPr/>
        <p:nvPr/>
      </p:nvGrpSpPr>
      <p:grpSpPr>
        <a:xfrm>
          <a:off x="0" y="0"/>
          <a:ext cx="0" cy="0"/>
          <a:chOff x="0" y="0"/>
          <a:chExt cx="0" cy="0"/>
        </a:xfrm>
      </p:grpSpPr>
      <p:sp>
        <p:nvSpPr>
          <p:cNvPr id="158" name="Google Shape;158;g3fd4779c472_4_172"/>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g3fd4779c472_4_172"/>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Geist"/>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0" name="Google Shape;160;g3fd4779c472_4_172"/>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g3fd4779c472_4_172"/>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Geist"/>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2" name="Google Shape;162;g3fd4779c472_4_172"/>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g3fd4779c472_4_17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g3fd4779c472_4_1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g3fd4779c472_4_17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166" name="Shape 166"/>
        <p:cNvGrpSpPr/>
        <p:nvPr/>
      </p:nvGrpSpPr>
      <p:grpSpPr>
        <a:xfrm>
          <a:off x="0" y="0"/>
          <a:ext cx="0" cy="0"/>
          <a:chOff x="0" y="0"/>
          <a:chExt cx="0" cy="0"/>
        </a:xfrm>
      </p:grpSpPr>
      <p:sp>
        <p:nvSpPr>
          <p:cNvPr id="167" name="Google Shape;167;g3fd4779c472_4_181"/>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g3fd4779c472_4_18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g3fd4779c472_4_18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g3fd4779c472_4_1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171" name="Shape 171"/>
        <p:cNvGrpSpPr/>
        <p:nvPr/>
      </p:nvGrpSpPr>
      <p:grpSpPr>
        <a:xfrm>
          <a:off x="0" y="0"/>
          <a:ext cx="0" cy="0"/>
          <a:chOff x="0" y="0"/>
          <a:chExt cx="0" cy="0"/>
        </a:xfrm>
      </p:grpSpPr>
      <p:sp>
        <p:nvSpPr>
          <p:cNvPr id="172" name="Google Shape;172;g3fd4779c472_4_18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Geist"/>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g3fd4779c472_4_186"/>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Geist"/>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74" name="Google Shape;174;g3fd4779c472_4_186"/>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Geist"/>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5" name="Google Shape;175;g3fd4779c472_4_18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g3fd4779c472_4_18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g3fd4779c472_4_18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178" name="Shape 178"/>
        <p:cNvGrpSpPr/>
        <p:nvPr/>
      </p:nvGrpSpPr>
      <p:grpSpPr>
        <a:xfrm>
          <a:off x="0" y="0"/>
          <a:ext cx="0" cy="0"/>
          <a:chOff x="0" y="0"/>
          <a:chExt cx="0" cy="0"/>
        </a:xfrm>
      </p:grpSpPr>
      <p:sp>
        <p:nvSpPr>
          <p:cNvPr id="179" name="Google Shape;179;g3fd4779c472_4_193"/>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Geist"/>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g3fd4779c472_4_193"/>
          <p:cNvSpPr/>
          <p:nvPr>
            <p:ph idx="2" type="pic"/>
          </p:nvPr>
        </p:nvSpPr>
        <p:spPr>
          <a:xfrm>
            <a:off x="5183188" y="987425"/>
            <a:ext cx="6172200" cy="4873500"/>
          </a:xfrm>
          <a:prstGeom prst="rect">
            <a:avLst/>
          </a:prstGeom>
          <a:noFill/>
          <a:ln>
            <a:noFill/>
          </a:ln>
        </p:spPr>
      </p:sp>
      <p:sp>
        <p:nvSpPr>
          <p:cNvPr id="181" name="Google Shape;181;g3fd4779c472_4_193"/>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Geist"/>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82" name="Google Shape;182;g3fd4779c472_4_19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g3fd4779c472_4_19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g3fd4779c472_4_1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185" name="Shape 185"/>
        <p:cNvGrpSpPr/>
        <p:nvPr/>
      </p:nvGrpSpPr>
      <p:grpSpPr>
        <a:xfrm>
          <a:off x="0" y="0"/>
          <a:ext cx="0" cy="0"/>
          <a:chOff x="0" y="0"/>
          <a:chExt cx="0" cy="0"/>
        </a:xfrm>
      </p:grpSpPr>
      <p:sp>
        <p:nvSpPr>
          <p:cNvPr id="186" name="Google Shape;186;g3fd4779c472_4_200"/>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g3fd4779c472_4_200"/>
          <p:cNvSpPr txBox="1"/>
          <p:nvPr>
            <p:ph idx="1" type="body"/>
          </p:nvPr>
        </p:nvSpPr>
        <p:spPr>
          <a:xfrm rot="5400000">
            <a:off x="3920400" y="-1340027"/>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g3fd4779c472_4_20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g3fd4779c472_4_20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g3fd4779c472_4_20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191" name="Shape 191"/>
        <p:cNvGrpSpPr/>
        <p:nvPr/>
      </p:nvGrpSpPr>
      <p:grpSpPr>
        <a:xfrm>
          <a:off x="0" y="0"/>
          <a:ext cx="0" cy="0"/>
          <a:chOff x="0" y="0"/>
          <a:chExt cx="0" cy="0"/>
        </a:xfrm>
      </p:grpSpPr>
      <p:sp>
        <p:nvSpPr>
          <p:cNvPr id="192" name="Google Shape;192;g3fd4779c472_4_206"/>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g3fd4779c472_4_206"/>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g3fd4779c472_4_20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g3fd4779c472_4_20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g3fd4779c472_4_20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838200" y="259882"/>
            <a:ext cx="10515600" cy="1482291"/>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Geist"/>
              <a:buNone/>
              <a:defRPr b="1" i="0" sz="6000" u="none" cap="none" strike="noStrike">
                <a:solidFill>
                  <a:schemeClr val="dk1"/>
                </a:solidFill>
                <a:latin typeface="Geist"/>
                <a:ea typeface="Geist"/>
                <a:cs typeface="Geist"/>
                <a:sym typeface="Geis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1"/>
          <p:cNvSpPr txBox="1"/>
          <p:nvPr>
            <p:ph idx="1" type="body"/>
          </p:nvPr>
        </p:nvSpPr>
        <p:spPr>
          <a:xfrm>
            <a:off x="838200" y="1742173"/>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Geist"/>
              <a:buChar char="•"/>
              <a:defRPr b="0" i="0" sz="2800" u="none" cap="none" strike="noStrike">
                <a:solidFill>
                  <a:schemeClr val="dk1"/>
                </a:solidFill>
                <a:latin typeface="Geist"/>
                <a:ea typeface="Geist"/>
                <a:cs typeface="Geist"/>
                <a:sym typeface="Geist"/>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Geist"/>
                <a:ea typeface="Geist"/>
                <a:cs typeface="Geist"/>
                <a:sym typeface="Geist"/>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Geist"/>
                <a:ea typeface="Geist"/>
                <a:cs typeface="Geist"/>
                <a:sym typeface="Geist"/>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Geist"/>
                <a:ea typeface="Geist"/>
                <a:cs typeface="Geist"/>
                <a:sym typeface="Geist"/>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Geist"/>
                <a:ea typeface="Geist"/>
                <a:cs typeface="Geist"/>
                <a:sym typeface="Geis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9pPr>
          </a:lstStyle>
          <a:p/>
        </p:txBody>
      </p:sp>
      <p:sp>
        <p:nvSpPr>
          <p:cNvPr id="8" name="Google Shape;8;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Geist"/>
                <a:ea typeface="Geist"/>
                <a:cs typeface="Geist"/>
                <a:sym typeface="Geist"/>
              </a:defRPr>
            </a:lvl1pPr>
            <a:lvl2pPr lvl="1" marR="0" rtl="0" algn="l">
              <a:spcBef>
                <a:spcPts val="0"/>
              </a:spcBef>
              <a:spcAft>
                <a:spcPts val="0"/>
              </a:spcAft>
              <a:buSzPts val="1400"/>
              <a:buNone/>
              <a:defRPr b="0" i="0" sz="1800" u="none" cap="none" strike="noStrike">
                <a:solidFill>
                  <a:schemeClr val="dk1"/>
                </a:solidFill>
                <a:latin typeface="Geist"/>
                <a:ea typeface="Geist"/>
                <a:cs typeface="Geist"/>
                <a:sym typeface="Geist"/>
              </a:defRPr>
            </a:lvl2pPr>
            <a:lvl3pPr lvl="2" marR="0" rtl="0" algn="l">
              <a:spcBef>
                <a:spcPts val="0"/>
              </a:spcBef>
              <a:spcAft>
                <a:spcPts val="0"/>
              </a:spcAft>
              <a:buSzPts val="1400"/>
              <a:buNone/>
              <a:defRPr b="0" i="0" sz="1800" u="none" cap="none" strike="noStrike">
                <a:solidFill>
                  <a:schemeClr val="dk1"/>
                </a:solidFill>
                <a:latin typeface="Geist"/>
                <a:ea typeface="Geist"/>
                <a:cs typeface="Geist"/>
                <a:sym typeface="Geist"/>
              </a:defRPr>
            </a:lvl3pPr>
            <a:lvl4pPr lvl="3" marR="0" rtl="0" algn="l">
              <a:spcBef>
                <a:spcPts val="0"/>
              </a:spcBef>
              <a:spcAft>
                <a:spcPts val="0"/>
              </a:spcAft>
              <a:buSzPts val="1400"/>
              <a:buNone/>
              <a:defRPr b="0" i="0" sz="1800" u="none" cap="none" strike="noStrike">
                <a:solidFill>
                  <a:schemeClr val="dk1"/>
                </a:solidFill>
                <a:latin typeface="Geist"/>
                <a:ea typeface="Geist"/>
                <a:cs typeface="Geist"/>
                <a:sym typeface="Geist"/>
              </a:defRPr>
            </a:lvl4pPr>
            <a:lvl5pPr lvl="4" marR="0" rtl="0" algn="l">
              <a:spcBef>
                <a:spcPts val="0"/>
              </a:spcBef>
              <a:spcAft>
                <a:spcPts val="0"/>
              </a:spcAft>
              <a:buSzPts val="1400"/>
              <a:buNone/>
              <a:defRPr b="0" i="0" sz="1800" u="none" cap="none" strike="noStrike">
                <a:solidFill>
                  <a:schemeClr val="dk1"/>
                </a:solidFill>
                <a:latin typeface="Geist"/>
                <a:ea typeface="Geist"/>
                <a:cs typeface="Geist"/>
                <a:sym typeface="Geist"/>
              </a:defRPr>
            </a:lvl5pPr>
            <a:lvl6pPr lvl="5" marR="0" rtl="0" algn="l">
              <a:spcBef>
                <a:spcPts val="0"/>
              </a:spcBef>
              <a:spcAft>
                <a:spcPts val="0"/>
              </a:spcAft>
              <a:buSzPts val="1400"/>
              <a:buNone/>
              <a:defRPr b="0" i="0" sz="1800" u="none" cap="none" strike="noStrike">
                <a:solidFill>
                  <a:schemeClr val="dk1"/>
                </a:solidFill>
                <a:latin typeface="Geist"/>
                <a:ea typeface="Geist"/>
                <a:cs typeface="Geist"/>
                <a:sym typeface="Geist"/>
              </a:defRPr>
            </a:lvl6pPr>
            <a:lvl7pPr lvl="6" marR="0" rtl="0" algn="l">
              <a:spcBef>
                <a:spcPts val="0"/>
              </a:spcBef>
              <a:spcAft>
                <a:spcPts val="0"/>
              </a:spcAft>
              <a:buSzPts val="1400"/>
              <a:buNone/>
              <a:defRPr b="0" i="0" sz="1800" u="none" cap="none" strike="noStrike">
                <a:solidFill>
                  <a:schemeClr val="dk1"/>
                </a:solidFill>
                <a:latin typeface="Geist"/>
                <a:ea typeface="Geist"/>
                <a:cs typeface="Geist"/>
                <a:sym typeface="Geist"/>
              </a:defRPr>
            </a:lvl7pPr>
            <a:lvl8pPr lvl="7" marR="0" rtl="0" algn="l">
              <a:spcBef>
                <a:spcPts val="0"/>
              </a:spcBef>
              <a:spcAft>
                <a:spcPts val="0"/>
              </a:spcAft>
              <a:buSzPts val="1400"/>
              <a:buNone/>
              <a:defRPr b="0" i="0" sz="1800" u="none" cap="none" strike="noStrike">
                <a:solidFill>
                  <a:schemeClr val="dk1"/>
                </a:solidFill>
                <a:latin typeface="Geist"/>
                <a:ea typeface="Geist"/>
                <a:cs typeface="Geist"/>
                <a:sym typeface="Geist"/>
              </a:defRPr>
            </a:lvl8pPr>
            <a:lvl9pPr lvl="8" marR="0" rtl="0" algn="l">
              <a:spcBef>
                <a:spcPts val="0"/>
              </a:spcBef>
              <a:spcAft>
                <a:spcPts val="0"/>
              </a:spcAft>
              <a:buSzPts val="1400"/>
              <a:buNone/>
              <a:defRPr b="0" i="0" sz="1800" u="none" cap="none" strike="noStrike">
                <a:solidFill>
                  <a:schemeClr val="dk1"/>
                </a:solidFill>
                <a:latin typeface="Geist"/>
                <a:ea typeface="Geist"/>
                <a:cs typeface="Geist"/>
                <a:sym typeface="Geist"/>
              </a:defRPr>
            </a:lvl9pPr>
          </a:lstStyle>
          <a:p/>
        </p:txBody>
      </p:sp>
      <p:sp>
        <p:nvSpPr>
          <p:cNvPr id="9" name="Google Shape;9;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Geist"/>
                <a:ea typeface="Geist"/>
                <a:cs typeface="Geist"/>
                <a:sym typeface="Geist"/>
              </a:defRPr>
            </a:lvl1pPr>
            <a:lvl2pPr lvl="1" marR="0" rtl="0" algn="l">
              <a:spcBef>
                <a:spcPts val="0"/>
              </a:spcBef>
              <a:spcAft>
                <a:spcPts val="0"/>
              </a:spcAft>
              <a:buSzPts val="1400"/>
              <a:buNone/>
              <a:defRPr b="0" i="0" sz="1800" u="none" cap="none" strike="noStrike">
                <a:solidFill>
                  <a:schemeClr val="dk1"/>
                </a:solidFill>
                <a:latin typeface="Geist"/>
                <a:ea typeface="Geist"/>
                <a:cs typeface="Geist"/>
                <a:sym typeface="Geist"/>
              </a:defRPr>
            </a:lvl2pPr>
            <a:lvl3pPr lvl="2" marR="0" rtl="0" algn="l">
              <a:spcBef>
                <a:spcPts val="0"/>
              </a:spcBef>
              <a:spcAft>
                <a:spcPts val="0"/>
              </a:spcAft>
              <a:buSzPts val="1400"/>
              <a:buNone/>
              <a:defRPr b="0" i="0" sz="1800" u="none" cap="none" strike="noStrike">
                <a:solidFill>
                  <a:schemeClr val="dk1"/>
                </a:solidFill>
                <a:latin typeface="Geist"/>
                <a:ea typeface="Geist"/>
                <a:cs typeface="Geist"/>
                <a:sym typeface="Geist"/>
              </a:defRPr>
            </a:lvl3pPr>
            <a:lvl4pPr lvl="3" marR="0" rtl="0" algn="l">
              <a:spcBef>
                <a:spcPts val="0"/>
              </a:spcBef>
              <a:spcAft>
                <a:spcPts val="0"/>
              </a:spcAft>
              <a:buSzPts val="1400"/>
              <a:buNone/>
              <a:defRPr b="0" i="0" sz="1800" u="none" cap="none" strike="noStrike">
                <a:solidFill>
                  <a:schemeClr val="dk1"/>
                </a:solidFill>
                <a:latin typeface="Geist"/>
                <a:ea typeface="Geist"/>
                <a:cs typeface="Geist"/>
                <a:sym typeface="Geist"/>
              </a:defRPr>
            </a:lvl4pPr>
            <a:lvl5pPr lvl="4" marR="0" rtl="0" algn="l">
              <a:spcBef>
                <a:spcPts val="0"/>
              </a:spcBef>
              <a:spcAft>
                <a:spcPts val="0"/>
              </a:spcAft>
              <a:buSzPts val="1400"/>
              <a:buNone/>
              <a:defRPr b="0" i="0" sz="1800" u="none" cap="none" strike="noStrike">
                <a:solidFill>
                  <a:schemeClr val="dk1"/>
                </a:solidFill>
                <a:latin typeface="Geist"/>
                <a:ea typeface="Geist"/>
                <a:cs typeface="Geist"/>
                <a:sym typeface="Geist"/>
              </a:defRPr>
            </a:lvl5pPr>
            <a:lvl6pPr lvl="5" marR="0" rtl="0" algn="l">
              <a:spcBef>
                <a:spcPts val="0"/>
              </a:spcBef>
              <a:spcAft>
                <a:spcPts val="0"/>
              </a:spcAft>
              <a:buSzPts val="1400"/>
              <a:buNone/>
              <a:defRPr b="0" i="0" sz="1800" u="none" cap="none" strike="noStrike">
                <a:solidFill>
                  <a:schemeClr val="dk1"/>
                </a:solidFill>
                <a:latin typeface="Geist"/>
                <a:ea typeface="Geist"/>
                <a:cs typeface="Geist"/>
                <a:sym typeface="Geist"/>
              </a:defRPr>
            </a:lvl6pPr>
            <a:lvl7pPr lvl="6" marR="0" rtl="0" algn="l">
              <a:spcBef>
                <a:spcPts val="0"/>
              </a:spcBef>
              <a:spcAft>
                <a:spcPts val="0"/>
              </a:spcAft>
              <a:buSzPts val="1400"/>
              <a:buNone/>
              <a:defRPr b="0" i="0" sz="1800" u="none" cap="none" strike="noStrike">
                <a:solidFill>
                  <a:schemeClr val="dk1"/>
                </a:solidFill>
                <a:latin typeface="Geist"/>
                <a:ea typeface="Geist"/>
                <a:cs typeface="Geist"/>
                <a:sym typeface="Geist"/>
              </a:defRPr>
            </a:lvl7pPr>
            <a:lvl8pPr lvl="7" marR="0" rtl="0" algn="l">
              <a:spcBef>
                <a:spcPts val="0"/>
              </a:spcBef>
              <a:spcAft>
                <a:spcPts val="0"/>
              </a:spcAft>
              <a:buSzPts val="1400"/>
              <a:buNone/>
              <a:defRPr b="0" i="0" sz="1800" u="none" cap="none" strike="noStrike">
                <a:solidFill>
                  <a:schemeClr val="dk1"/>
                </a:solidFill>
                <a:latin typeface="Geist"/>
                <a:ea typeface="Geist"/>
                <a:cs typeface="Geist"/>
                <a:sym typeface="Geist"/>
              </a:defRPr>
            </a:lvl8pPr>
            <a:lvl9pPr lvl="8" marR="0" rtl="0" algn="l">
              <a:spcBef>
                <a:spcPts val="0"/>
              </a:spcBef>
              <a:spcAft>
                <a:spcPts val="0"/>
              </a:spcAft>
              <a:buSzPts val="1400"/>
              <a:buNone/>
              <a:defRPr b="0" i="0" sz="1800" u="none" cap="none" strike="noStrike">
                <a:solidFill>
                  <a:schemeClr val="dk1"/>
                </a:solidFill>
                <a:latin typeface="Geist"/>
                <a:ea typeface="Geist"/>
                <a:cs typeface="Geist"/>
                <a:sym typeface="Geist"/>
              </a:defRPr>
            </a:lvl9pPr>
          </a:lstStyle>
          <a:p/>
        </p:txBody>
      </p:sp>
      <p:sp>
        <p:nvSpPr>
          <p:cNvPr id="10" name="Google Shape;1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Geist"/>
                <a:ea typeface="Geist"/>
                <a:cs typeface="Geist"/>
                <a:sym typeface="Geist"/>
              </a:defRPr>
            </a:lvl1pPr>
            <a:lvl2pPr indent="0" lvl="1" marL="0" marR="0" rtl="0" algn="r">
              <a:spcBef>
                <a:spcPts val="0"/>
              </a:spcBef>
              <a:buNone/>
              <a:defRPr b="0" i="0" sz="1200" u="none" cap="none" strike="noStrike">
                <a:solidFill>
                  <a:srgbClr val="757575"/>
                </a:solidFill>
                <a:latin typeface="Geist"/>
                <a:ea typeface="Geist"/>
                <a:cs typeface="Geist"/>
                <a:sym typeface="Geist"/>
              </a:defRPr>
            </a:lvl2pPr>
            <a:lvl3pPr indent="0" lvl="2" marL="0" marR="0" rtl="0" algn="r">
              <a:spcBef>
                <a:spcPts val="0"/>
              </a:spcBef>
              <a:buNone/>
              <a:defRPr b="0" i="0" sz="1200" u="none" cap="none" strike="noStrike">
                <a:solidFill>
                  <a:srgbClr val="757575"/>
                </a:solidFill>
                <a:latin typeface="Geist"/>
                <a:ea typeface="Geist"/>
                <a:cs typeface="Geist"/>
                <a:sym typeface="Geist"/>
              </a:defRPr>
            </a:lvl3pPr>
            <a:lvl4pPr indent="0" lvl="3" marL="0" marR="0" rtl="0" algn="r">
              <a:spcBef>
                <a:spcPts val="0"/>
              </a:spcBef>
              <a:buNone/>
              <a:defRPr b="0" i="0" sz="1200" u="none" cap="none" strike="noStrike">
                <a:solidFill>
                  <a:srgbClr val="757575"/>
                </a:solidFill>
                <a:latin typeface="Geist"/>
                <a:ea typeface="Geist"/>
                <a:cs typeface="Geist"/>
                <a:sym typeface="Geist"/>
              </a:defRPr>
            </a:lvl4pPr>
            <a:lvl5pPr indent="0" lvl="4" marL="0" marR="0" rtl="0" algn="r">
              <a:spcBef>
                <a:spcPts val="0"/>
              </a:spcBef>
              <a:buNone/>
              <a:defRPr b="0" i="0" sz="1200" u="none" cap="none" strike="noStrike">
                <a:solidFill>
                  <a:srgbClr val="757575"/>
                </a:solidFill>
                <a:latin typeface="Geist"/>
                <a:ea typeface="Geist"/>
                <a:cs typeface="Geist"/>
                <a:sym typeface="Geist"/>
              </a:defRPr>
            </a:lvl5pPr>
            <a:lvl6pPr indent="0" lvl="5" marL="0" marR="0" rtl="0" algn="r">
              <a:spcBef>
                <a:spcPts val="0"/>
              </a:spcBef>
              <a:buNone/>
              <a:defRPr b="0" i="0" sz="1200" u="none" cap="none" strike="noStrike">
                <a:solidFill>
                  <a:srgbClr val="757575"/>
                </a:solidFill>
                <a:latin typeface="Geist"/>
                <a:ea typeface="Geist"/>
                <a:cs typeface="Geist"/>
                <a:sym typeface="Geist"/>
              </a:defRPr>
            </a:lvl6pPr>
            <a:lvl7pPr indent="0" lvl="6" marL="0" marR="0" rtl="0" algn="r">
              <a:spcBef>
                <a:spcPts val="0"/>
              </a:spcBef>
              <a:buNone/>
              <a:defRPr b="0" i="0" sz="1200" u="none" cap="none" strike="noStrike">
                <a:solidFill>
                  <a:srgbClr val="757575"/>
                </a:solidFill>
                <a:latin typeface="Geist"/>
                <a:ea typeface="Geist"/>
                <a:cs typeface="Geist"/>
                <a:sym typeface="Geist"/>
              </a:defRPr>
            </a:lvl7pPr>
            <a:lvl8pPr indent="0" lvl="7" marL="0" marR="0" rtl="0" algn="r">
              <a:spcBef>
                <a:spcPts val="0"/>
              </a:spcBef>
              <a:buNone/>
              <a:defRPr b="0" i="0" sz="1200" u="none" cap="none" strike="noStrike">
                <a:solidFill>
                  <a:srgbClr val="757575"/>
                </a:solidFill>
                <a:latin typeface="Geist"/>
                <a:ea typeface="Geist"/>
                <a:cs typeface="Geist"/>
                <a:sym typeface="Geist"/>
              </a:defRPr>
            </a:lvl8pPr>
            <a:lvl9pPr indent="0" lvl="8" marL="0" marR="0" rtl="0" algn="r">
              <a:spcBef>
                <a:spcPts val="0"/>
              </a:spcBef>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g3fd4779c472_4_113"/>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dk1"/>
              </a:buClr>
              <a:buSzPts val="6000"/>
              <a:buFont typeface="Geist"/>
              <a:buNone/>
              <a:defRPr b="1" i="0" sz="6000" u="none" cap="none" strike="noStrike">
                <a:solidFill>
                  <a:schemeClr val="dk1"/>
                </a:solidFill>
                <a:latin typeface="Geist"/>
                <a:ea typeface="Geist"/>
                <a:cs typeface="Geist"/>
                <a:sym typeface="Geist"/>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0" name="Google Shape;100;g3fd4779c472_4_113"/>
          <p:cNvSpPr txBox="1"/>
          <p:nvPr>
            <p:ph idx="1" type="body"/>
          </p:nvPr>
        </p:nvSpPr>
        <p:spPr>
          <a:xfrm>
            <a:off x="838200" y="1742173"/>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Geist"/>
              <a:buChar char="•"/>
              <a:defRPr b="0" i="0" sz="2800" u="none" cap="none" strike="noStrike">
                <a:solidFill>
                  <a:schemeClr val="dk1"/>
                </a:solidFill>
                <a:latin typeface="Geist"/>
                <a:ea typeface="Geist"/>
                <a:cs typeface="Geist"/>
                <a:sym typeface="Geist"/>
              </a:defRPr>
            </a:lvl1pPr>
            <a:lvl2pPr indent="-381000" lvl="1" marL="914400" marR="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Geist"/>
                <a:ea typeface="Geist"/>
                <a:cs typeface="Geist"/>
                <a:sym typeface="Geist"/>
              </a:defRPr>
            </a:lvl2pPr>
            <a:lvl3pPr indent="-355600" lvl="2" marL="1371600" marR="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Geist"/>
                <a:ea typeface="Geist"/>
                <a:cs typeface="Geist"/>
                <a:sym typeface="Geist"/>
              </a:defRPr>
            </a:lvl3pPr>
            <a:lvl4pPr indent="-342900" lvl="3" marL="1828800" marR="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Geist"/>
                <a:ea typeface="Geist"/>
                <a:cs typeface="Geist"/>
                <a:sym typeface="Geist"/>
              </a:defRPr>
            </a:lvl4pPr>
            <a:lvl5pPr indent="-342900" lvl="4" marL="2286000" marR="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Geist"/>
                <a:ea typeface="Geist"/>
                <a:cs typeface="Geist"/>
                <a:sym typeface="Geist"/>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9pPr>
          </a:lstStyle>
          <a:p/>
        </p:txBody>
      </p:sp>
      <p:sp>
        <p:nvSpPr>
          <p:cNvPr id="101" name="Google Shape;101;g3fd4779c472_4_1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Geist"/>
                <a:ea typeface="Geist"/>
                <a:cs typeface="Geist"/>
                <a:sym typeface="Geist"/>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9pPr>
          </a:lstStyle>
          <a:p/>
        </p:txBody>
      </p:sp>
      <p:sp>
        <p:nvSpPr>
          <p:cNvPr id="102" name="Google Shape;102;g3fd4779c472_4_1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Geist"/>
                <a:ea typeface="Geist"/>
                <a:cs typeface="Geist"/>
                <a:sym typeface="Geist"/>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9pPr>
          </a:lstStyle>
          <a:p/>
        </p:txBody>
      </p:sp>
      <p:sp>
        <p:nvSpPr>
          <p:cNvPr id="103" name="Google Shape;103;g3fd4779c472_4_1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3.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localhost:5678" TargetMode="Externa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localhost:5678" TargetMode="Externa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0.gif"/><Relationship Id="rId5" Type="http://schemas.openxmlformats.org/officeDocument/2006/relationships/image" Target="../media/image9.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18.gif"/><Relationship Id="rId5" Type="http://schemas.openxmlformats.org/officeDocument/2006/relationships/image" Target="../media/image28.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20.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23.gif"/><Relationship Id="rId6"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29.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png"/><Relationship Id="rId4" Type="http://schemas.openxmlformats.org/officeDocument/2006/relationships/image" Target="../media/image21.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7.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7.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
          <p:cNvSpPr txBox="1"/>
          <p:nvPr/>
        </p:nvSpPr>
        <p:spPr>
          <a:xfrm>
            <a:off x="457200" y="365760"/>
            <a:ext cx="10058400" cy="1645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5400" u="none" cap="none" strike="noStrike">
                <a:solidFill>
                  <a:srgbClr val="FFFFFF"/>
                </a:solidFill>
                <a:latin typeface="Geist"/>
                <a:ea typeface="Geist"/>
                <a:cs typeface="Geist"/>
                <a:sym typeface="Geist"/>
              </a:rPr>
              <a:t>TigellAI — un Agente AI con n8n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fd4779c472_4_106"/>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4800"/>
              <a:buFont typeface="Geist"/>
              <a:buNone/>
            </a:pPr>
            <a:r>
              <a:rPr b="1" lang="it-IT">
                <a:latin typeface="Geist"/>
                <a:ea typeface="Geist"/>
                <a:cs typeface="Geist"/>
                <a:sym typeface="Geist"/>
              </a:rPr>
              <a:t>Chi </a:t>
            </a:r>
            <a:r>
              <a:rPr lang="it-IT"/>
              <a:t>sono</a:t>
            </a:r>
            <a:endParaRPr/>
          </a:p>
        </p:txBody>
      </p:sp>
      <p:sp>
        <p:nvSpPr>
          <p:cNvPr id="208" name="Google Shape;208;g3fd4779c472_4_106"/>
          <p:cNvSpPr txBox="1"/>
          <p:nvPr/>
        </p:nvSpPr>
        <p:spPr>
          <a:xfrm>
            <a:off x="5583875" y="1913925"/>
            <a:ext cx="4944600" cy="215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it-IT" sz="2800" u="none" cap="none" strike="noStrike">
                <a:solidFill>
                  <a:schemeClr val="dk1"/>
                </a:solidFill>
                <a:latin typeface="Geist"/>
                <a:ea typeface="Geist"/>
                <a:cs typeface="Geist"/>
                <a:sym typeface="Geist"/>
              </a:rPr>
              <a:t>Riccardo Figliozzi</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eist"/>
              <a:ea typeface="Geist"/>
              <a:cs typeface="Geist"/>
              <a:sym typeface="Geist"/>
            </a:endParaRPr>
          </a:p>
          <a:p>
            <a:pPr indent="0" lvl="0" marL="0" marR="0" rtl="0" algn="l">
              <a:lnSpc>
                <a:spcPct val="100000"/>
              </a:lnSpc>
              <a:spcBef>
                <a:spcPts val="0"/>
              </a:spcBef>
              <a:spcAft>
                <a:spcPts val="0"/>
              </a:spcAft>
              <a:buClr>
                <a:srgbClr val="000000"/>
              </a:buClr>
              <a:buSzPts val="1800"/>
              <a:buFont typeface="Arial"/>
              <a:buNone/>
            </a:pPr>
            <a:r>
              <a:rPr b="0" i="0" lang="it-IT" sz="2200" u="none" cap="none" strike="noStrike">
                <a:solidFill>
                  <a:schemeClr val="dk1"/>
                </a:solidFill>
                <a:latin typeface="Geist"/>
                <a:ea typeface="Geist"/>
                <a:cs typeface="Geist"/>
                <a:sym typeface="Geist"/>
              </a:rPr>
              <a:t>Teacher @Data Masters</a:t>
            </a:r>
            <a:endParaRPr b="0" i="0" sz="2200" u="none" cap="none" strike="noStrike">
              <a:solidFill>
                <a:schemeClr val="dk1"/>
              </a:solidFill>
              <a:latin typeface="Geist"/>
              <a:ea typeface="Geist"/>
              <a:cs typeface="Geist"/>
              <a:sym typeface="Geist"/>
            </a:endParaRPr>
          </a:p>
          <a:p>
            <a:pPr indent="0" lvl="0" marL="0" marR="0" rtl="0" algn="l">
              <a:lnSpc>
                <a:spcPct val="100000"/>
              </a:lnSpc>
              <a:spcBef>
                <a:spcPts val="0"/>
              </a:spcBef>
              <a:spcAft>
                <a:spcPts val="0"/>
              </a:spcAft>
              <a:buClr>
                <a:srgbClr val="000000"/>
              </a:buClr>
              <a:buSzPts val="1800"/>
              <a:buFont typeface="Arial"/>
              <a:buNone/>
            </a:pPr>
            <a:r>
              <a:rPr b="0" i="0" lang="it-IT" sz="2200" u="none" cap="none" strike="noStrike">
                <a:solidFill>
                  <a:schemeClr val="dk1"/>
                </a:solidFill>
                <a:latin typeface="Geist"/>
                <a:ea typeface="Geist"/>
                <a:cs typeface="Geist"/>
                <a:sym typeface="Geist"/>
              </a:rPr>
              <a:t>Data Scientist / AI &amp; Automation Specialist</a:t>
            </a:r>
            <a:endParaRPr b="0" i="0" sz="2200" u="none" cap="none" strike="noStrike">
              <a:solidFill>
                <a:schemeClr val="dk1"/>
              </a:solidFill>
              <a:latin typeface="Geist"/>
              <a:ea typeface="Geist"/>
              <a:cs typeface="Geist"/>
              <a:sym typeface="Geist"/>
            </a:endParaRPr>
          </a:p>
          <a:p>
            <a:pPr indent="0" lvl="0" marL="0" marR="0" rtl="0" algn="l">
              <a:lnSpc>
                <a:spcPct val="100000"/>
              </a:lnSpc>
              <a:spcBef>
                <a:spcPts val="0"/>
              </a:spcBef>
              <a:spcAft>
                <a:spcPts val="0"/>
              </a:spcAft>
              <a:buClr>
                <a:srgbClr val="000000"/>
              </a:buClr>
              <a:buSzPts val="1800"/>
              <a:buFont typeface="Arial"/>
              <a:buNone/>
            </a:pPr>
            <a:r>
              <a:rPr b="0" i="0" lang="it-IT" sz="2200" u="none" cap="none" strike="noStrike">
                <a:solidFill>
                  <a:schemeClr val="dk1"/>
                </a:solidFill>
                <a:latin typeface="Geist"/>
                <a:ea typeface="Geist"/>
                <a:cs typeface="Geist"/>
                <a:sym typeface="Geist"/>
              </a:rPr>
              <a:t>firenze.dev staff</a:t>
            </a:r>
            <a:endParaRPr b="0" i="0" sz="2200" u="none" cap="none" strike="noStrike">
              <a:solidFill>
                <a:schemeClr val="dk1"/>
              </a:solidFill>
              <a:latin typeface="Geist"/>
              <a:ea typeface="Geist"/>
              <a:cs typeface="Geist"/>
              <a:sym typeface="Geist"/>
            </a:endParaRPr>
          </a:p>
        </p:txBody>
      </p:sp>
      <p:pic>
        <p:nvPicPr>
          <p:cNvPr id="209" name="Google Shape;209;g3fd4779c472_4_106" title="riccardo-blu.png"/>
          <p:cNvPicPr preferRelativeResize="0"/>
          <p:nvPr/>
        </p:nvPicPr>
        <p:blipFill rotWithShape="1">
          <a:blip r:embed="rId3">
            <a:alphaModFix/>
          </a:blip>
          <a:srcRect b="0" l="0" r="0" t="0"/>
          <a:stretch/>
        </p:blipFill>
        <p:spPr>
          <a:xfrm>
            <a:off x="1559275" y="1678550"/>
            <a:ext cx="3171450" cy="3171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Un agente che prende ordini di tigelle</a:t>
            </a:r>
            <a:endParaRPr/>
          </a:p>
        </p:txBody>
      </p:sp>
      <p:sp>
        <p:nvSpPr>
          <p:cNvPr id="215" name="Google Shape;215;p2"/>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i="0" lang="it-IT" sz="1200" u="none" cap="none" strike="noStrike">
                <a:solidFill>
                  <a:srgbClr val="2D51FF"/>
                </a:solidFill>
                <a:latin typeface="Geist"/>
                <a:ea typeface="Geist"/>
                <a:cs typeface="Geist"/>
                <a:sym typeface="Geist"/>
              </a:rPr>
              <a:t>TigellAI — Costruire un Agente AI con n8n</a:t>
            </a:r>
            <a:endParaRPr b="0" i="0" sz="1800" u="none" cap="none" strike="noStrike">
              <a:solidFill>
                <a:schemeClr val="dk1"/>
              </a:solidFill>
              <a:latin typeface="Geist Mono"/>
              <a:ea typeface="Geist Mono"/>
              <a:cs typeface="Geist Mono"/>
              <a:sym typeface="Geist Mono"/>
            </a:endParaRPr>
          </a:p>
        </p:txBody>
      </p:sp>
      <p:pic>
        <p:nvPicPr>
          <p:cNvPr descr="full-logo.png" id="216" name="Google Shape;216;p2"/>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217" name="Google Shape;217;p2"/>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eist"/>
              <a:ea typeface="Geist"/>
              <a:cs typeface="Geist"/>
              <a:sym typeface="Geist"/>
            </a:endParaRPr>
          </a:p>
        </p:txBody>
      </p:sp>
      <p:pic>
        <p:nvPicPr>
          <p:cNvPr id="218" name="Google Shape;218;p2"/>
          <p:cNvPicPr preferRelativeResize="0"/>
          <p:nvPr/>
        </p:nvPicPr>
        <p:blipFill>
          <a:blip r:embed="rId4">
            <a:alphaModFix/>
          </a:blip>
          <a:stretch>
            <a:fillRect/>
          </a:stretch>
        </p:blipFill>
        <p:spPr>
          <a:xfrm>
            <a:off x="838200" y="2564737"/>
            <a:ext cx="10515599" cy="29677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
          <p:cNvSpPr txBox="1"/>
          <p:nvPr>
            <p:ph type="title"/>
          </p:nvPr>
        </p:nvSpPr>
        <p:spPr>
          <a:xfrm>
            <a:off x="551875" y="259875"/>
            <a:ext cx="11038200" cy="148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Cosa saprete fare alla fine del WS</a:t>
            </a:r>
            <a:endParaRPr/>
          </a:p>
        </p:txBody>
      </p:sp>
      <p:sp>
        <p:nvSpPr>
          <p:cNvPr id="224" name="Google Shape;224;p3"/>
          <p:cNvSpPr txBox="1"/>
          <p:nvPr>
            <p:ph idx="1" type="body"/>
          </p:nvPr>
        </p:nvSpPr>
        <p:spPr>
          <a:xfrm>
            <a:off x="551884" y="2305346"/>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Avviare n8n in locale</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Importare e far girare TigellAI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Capire ogni nodo del workflow</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Distinguere flusso RAG e chat</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Toccare un agente AI reale</a:t>
            </a:r>
            <a:endParaRPr/>
          </a:p>
        </p:txBody>
      </p:sp>
      <p:sp>
        <p:nvSpPr>
          <p:cNvPr id="225" name="Google Shape;225;p3"/>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i="0" lang="it-IT" sz="1200" u="none" cap="none" strike="noStrike">
                <a:solidFill>
                  <a:srgbClr val="2D51FF"/>
                </a:solidFill>
                <a:latin typeface="Geist"/>
                <a:ea typeface="Geist"/>
                <a:cs typeface="Geist"/>
                <a:sym typeface="Geist"/>
              </a:rPr>
              <a:t>TigellAI — Costruire un Agente AI con n8n</a:t>
            </a:r>
            <a:endParaRPr b="0" i="0" sz="1800" u="none" cap="none" strike="noStrike">
              <a:solidFill>
                <a:schemeClr val="dk1"/>
              </a:solidFill>
              <a:latin typeface="Geist Mono"/>
              <a:ea typeface="Geist Mono"/>
              <a:cs typeface="Geist Mono"/>
              <a:sym typeface="Geist Mono"/>
            </a:endParaRPr>
          </a:p>
        </p:txBody>
      </p:sp>
      <p:pic>
        <p:nvPicPr>
          <p:cNvPr descr="full-logo.png" id="226" name="Google Shape;226;p3"/>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227" name="Google Shape;227;p3"/>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eist"/>
              <a:ea typeface="Geist"/>
              <a:cs typeface="Geist"/>
              <a:sym typeface="Geist"/>
            </a:endParaRPr>
          </a:p>
        </p:txBody>
      </p:sp>
      <p:pic>
        <p:nvPicPr>
          <p:cNvPr id="228" name="Google Shape;228;p3"/>
          <p:cNvPicPr preferRelativeResize="0"/>
          <p:nvPr/>
        </p:nvPicPr>
        <p:blipFill>
          <a:blip r:embed="rId4">
            <a:alphaModFix/>
          </a:blip>
          <a:stretch>
            <a:fillRect/>
          </a:stretch>
        </p:blipFill>
        <p:spPr>
          <a:xfrm>
            <a:off x="6279977" y="1439825"/>
            <a:ext cx="3978350" cy="3978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fd4779c472_4_624"/>
          <p:cNvSpPr txBox="1"/>
          <p:nvPr>
            <p:ph type="title"/>
          </p:nvPr>
        </p:nvSpPr>
        <p:spPr>
          <a:xfrm>
            <a:off x="551884" y="259882"/>
            <a:ext cx="10515600" cy="148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Le 3 cose che ti servono oggi</a:t>
            </a:r>
            <a:endParaRPr/>
          </a:p>
        </p:txBody>
      </p:sp>
      <p:sp>
        <p:nvSpPr>
          <p:cNvPr id="234" name="Google Shape;234;g3fd4779c472_4_624"/>
          <p:cNvSpPr txBox="1"/>
          <p:nvPr>
            <p:ph idx="1" type="body"/>
          </p:nvPr>
        </p:nvSpPr>
        <p:spPr>
          <a:xfrm>
            <a:off x="551884" y="2305346"/>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OpenAI API key (l'agente)</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OpenWeatherMap key (il meteo)</a:t>
            </a:r>
            <a:endParaRPr/>
          </a:p>
          <a:p>
            <a:pPr indent="0" lvl="0" marL="0" rtl="0" algn="l">
              <a:lnSpc>
                <a:spcPct val="90000"/>
              </a:lnSpc>
              <a:spcBef>
                <a:spcPts val="1000"/>
              </a:spcBef>
              <a:spcAft>
                <a:spcPts val="0"/>
              </a:spcAft>
              <a:buNone/>
            </a:pPr>
            <a:r>
              <a:t/>
            </a:r>
            <a:endParaRPr/>
          </a:p>
          <a:p>
            <a:pPr indent="0" lvl="0" marL="0" rtl="0" algn="l">
              <a:lnSpc>
                <a:spcPct val="90000"/>
              </a:lnSpc>
              <a:spcBef>
                <a:spcPts val="1000"/>
              </a:spcBef>
              <a:spcAft>
                <a:spcPts val="0"/>
              </a:spcAft>
              <a:buNone/>
            </a:pPr>
            <a:r>
              <a:rPr lang="it-IT"/>
              <a:t>Tanta tanta pazienza</a:t>
            </a:r>
            <a:endParaRPr/>
          </a:p>
        </p:txBody>
      </p:sp>
      <p:sp>
        <p:nvSpPr>
          <p:cNvPr id="235" name="Google Shape;235;g3fd4779c472_4_624"/>
          <p:cNvSpPr txBox="1"/>
          <p:nvPr/>
        </p:nvSpPr>
        <p:spPr>
          <a:xfrm>
            <a:off x="1706267" y="6355080"/>
            <a:ext cx="10028400" cy="338400"/>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236" name="Google Shape;236;g3fd4779c472_4_624"/>
          <p:cNvPicPr preferRelativeResize="0"/>
          <p:nvPr/>
        </p:nvPicPr>
        <p:blipFill rotWithShape="1">
          <a:blip r:embed="rId3">
            <a:alphaModFix/>
          </a:blip>
          <a:srcRect b="0" l="0" r="0" t="0"/>
          <a:stretch/>
        </p:blipFill>
        <p:spPr>
          <a:xfrm>
            <a:off x="457200" y="6439662"/>
            <a:ext cx="947314" cy="169164"/>
          </a:xfrm>
          <a:prstGeom prst="rect">
            <a:avLst/>
          </a:prstGeom>
          <a:noFill/>
          <a:ln>
            <a:noFill/>
          </a:ln>
        </p:spPr>
      </p:pic>
      <p:sp>
        <p:nvSpPr>
          <p:cNvPr id="237" name="Google Shape;237;g3fd4779c472_4_624"/>
          <p:cNvSpPr/>
          <p:nvPr/>
        </p:nvSpPr>
        <p:spPr>
          <a:xfrm>
            <a:off x="1541675" y="6355080"/>
            <a:ext cx="27300" cy="338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woman with her eyes closed is wearing a black lace top and earrings (Provided by Tenor)" id="238" name="Google Shape;238;g3fd4779c472_4_624"/>
          <p:cNvPicPr preferRelativeResize="0"/>
          <p:nvPr/>
        </p:nvPicPr>
        <p:blipFill>
          <a:blip r:embed="rId4">
            <a:alphaModFix/>
          </a:blip>
          <a:stretch>
            <a:fillRect/>
          </a:stretch>
        </p:blipFill>
        <p:spPr>
          <a:xfrm>
            <a:off x="5074800" y="4286250"/>
            <a:ext cx="4572000" cy="2571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fd4779c472_4_213"/>
          <p:cNvSpPr txBox="1"/>
          <p:nvPr>
            <p:ph type="ctrTitle"/>
          </p:nvPr>
        </p:nvSpPr>
        <p:spPr>
          <a:xfrm>
            <a:off x="581928" y="503000"/>
            <a:ext cx="99465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t>Filosofia no-code/low-code</a:t>
            </a:r>
            <a:endParaRPr/>
          </a:p>
        </p:txBody>
      </p:sp>
      <p:sp>
        <p:nvSpPr>
          <p:cNvPr id="244" name="Google Shape;244;g3fd4779c472_4_213"/>
          <p:cNvSpPr txBox="1"/>
          <p:nvPr>
            <p:ph idx="1" type="body"/>
          </p:nvPr>
        </p:nvSpPr>
        <p:spPr>
          <a:xfrm>
            <a:off x="665700" y="1853675"/>
            <a:ext cx="10860600" cy="3482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00"/>
              <a:buNone/>
            </a:pPr>
            <a:r>
              <a:rPr b="1" lang="it-IT" sz="2200"/>
              <a:t>No-code</a:t>
            </a:r>
            <a:endParaRPr b="1" sz="2200"/>
          </a:p>
          <a:p>
            <a:pPr indent="0" lvl="0" marL="0" rtl="0" algn="l">
              <a:lnSpc>
                <a:spcPct val="100000"/>
              </a:lnSpc>
              <a:spcBef>
                <a:spcPts val="0"/>
              </a:spcBef>
              <a:spcAft>
                <a:spcPts val="0"/>
              </a:spcAft>
              <a:buSzPts val="2000"/>
              <a:buNone/>
            </a:pPr>
            <a:r>
              <a:rPr lang="it-IT" sz="2200"/>
              <a:t>- Creazione di automazioni senza l’uso di linguaggi di programmazione</a:t>
            </a:r>
            <a:endParaRPr sz="2200"/>
          </a:p>
          <a:p>
            <a:pPr indent="0" lvl="0" marL="0" rtl="0" algn="l">
              <a:lnSpc>
                <a:spcPct val="100000"/>
              </a:lnSpc>
              <a:spcBef>
                <a:spcPts val="0"/>
              </a:spcBef>
              <a:spcAft>
                <a:spcPts val="0"/>
              </a:spcAft>
              <a:buSzPts val="2000"/>
              <a:buNone/>
            </a:pPr>
            <a:r>
              <a:rPr lang="it-IT" sz="2200"/>
              <a:t>- Nodi già pronti per connettere servizi comuni (es. Gmail, Slack, Google Sheets)</a:t>
            </a:r>
            <a:endParaRPr sz="2200"/>
          </a:p>
          <a:p>
            <a:pPr indent="0" lvl="0" marL="0" rtl="0" algn="l">
              <a:lnSpc>
                <a:spcPct val="100000"/>
              </a:lnSpc>
              <a:spcBef>
                <a:spcPts val="0"/>
              </a:spcBef>
              <a:spcAft>
                <a:spcPts val="0"/>
              </a:spcAft>
              <a:buSzPts val="2000"/>
              <a:buNone/>
            </a:pPr>
            <a:r>
              <a:t/>
            </a:r>
            <a:endParaRPr sz="2200"/>
          </a:p>
          <a:p>
            <a:pPr indent="0" lvl="0" marL="0" rtl="0" algn="l">
              <a:lnSpc>
                <a:spcPct val="100000"/>
              </a:lnSpc>
              <a:spcBef>
                <a:spcPts val="0"/>
              </a:spcBef>
              <a:spcAft>
                <a:spcPts val="0"/>
              </a:spcAft>
              <a:buSzPts val="2000"/>
              <a:buNone/>
            </a:pPr>
            <a:r>
              <a:rPr b="1" lang="it-IT" sz="2200"/>
              <a:t>Low-code</a:t>
            </a:r>
            <a:endParaRPr b="1" sz="2200"/>
          </a:p>
          <a:p>
            <a:pPr indent="0" lvl="0" marL="0" rtl="0" algn="l">
              <a:lnSpc>
                <a:spcPct val="100000"/>
              </a:lnSpc>
              <a:spcBef>
                <a:spcPts val="0"/>
              </a:spcBef>
              <a:spcAft>
                <a:spcPts val="0"/>
              </a:spcAft>
              <a:buSzPts val="2000"/>
              <a:buNone/>
            </a:pPr>
            <a:r>
              <a:rPr lang="it-IT" sz="2200"/>
              <a:t>- Possibilità di personalizzare i workflow con espressioni o codice custom</a:t>
            </a:r>
            <a:endParaRPr sz="2200"/>
          </a:p>
          <a:p>
            <a:pPr indent="0" lvl="0" marL="0" rtl="0" algn="l">
              <a:lnSpc>
                <a:spcPct val="100000"/>
              </a:lnSpc>
              <a:spcBef>
                <a:spcPts val="0"/>
              </a:spcBef>
              <a:spcAft>
                <a:spcPts val="0"/>
              </a:spcAft>
              <a:buSzPts val="2000"/>
              <a:buNone/>
            </a:pPr>
            <a:r>
              <a:rPr lang="it-IT" sz="2200"/>
              <a:t>- Maggiore flessibilità per scenari complessi</a:t>
            </a:r>
            <a:endParaRPr sz="2200"/>
          </a:p>
          <a:p>
            <a:pPr indent="0" lvl="0" marL="0" rtl="0" algn="l">
              <a:lnSpc>
                <a:spcPct val="100000"/>
              </a:lnSpc>
              <a:spcBef>
                <a:spcPts val="0"/>
              </a:spcBef>
              <a:spcAft>
                <a:spcPts val="0"/>
              </a:spcAft>
              <a:buSzPts val="2000"/>
              <a:buNone/>
            </a:pPr>
            <a:r>
              <a:t/>
            </a:r>
            <a:endParaRPr sz="2200"/>
          </a:p>
          <a:p>
            <a:pPr indent="0" lvl="0" marL="0" rtl="0" algn="l">
              <a:lnSpc>
                <a:spcPct val="100000"/>
              </a:lnSpc>
              <a:spcBef>
                <a:spcPts val="0"/>
              </a:spcBef>
              <a:spcAft>
                <a:spcPts val="0"/>
              </a:spcAft>
              <a:buSzPts val="2000"/>
              <a:buNone/>
            </a:pPr>
            <a:r>
              <a:rPr b="1" lang="it-IT" sz="2200"/>
              <a:t>Filosofia</a:t>
            </a:r>
            <a:r>
              <a:rPr lang="it-IT" sz="2200"/>
              <a:t> -&gt; abbassare la barriera d’ingresso mantenendo la potenza del codice quando serve</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fd4779c472_4_218"/>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b="1" lang="it-IT">
                <a:latin typeface="Geist"/>
                <a:ea typeface="Geist"/>
                <a:cs typeface="Geist"/>
                <a:sym typeface="Geist"/>
              </a:rPr>
              <a:t>Cos’è</a:t>
            </a:r>
            <a:r>
              <a:rPr lang="it-IT"/>
              <a:t> n8n?</a:t>
            </a:r>
            <a:endParaRPr/>
          </a:p>
        </p:txBody>
      </p:sp>
      <p:sp>
        <p:nvSpPr>
          <p:cNvPr id="250" name="Google Shape;250;g3fd4779c472_4_218"/>
          <p:cNvSpPr txBox="1"/>
          <p:nvPr>
            <p:ph idx="1" type="body"/>
          </p:nvPr>
        </p:nvSpPr>
        <p:spPr>
          <a:xfrm>
            <a:off x="581925" y="1778525"/>
            <a:ext cx="8737500" cy="2618100"/>
          </a:xfrm>
          <a:prstGeom prst="rect">
            <a:avLst/>
          </a:prstGeom>
          <a:noFill/>
          <a:ln>
            <a:noFill/>
          </a:ln>
        </p:spPr>
        <p:txBody>
          <a:bodyPr anchorCtr="0" anchor="t" bIns="45700" lIns="91425" spcFirstLastPara="1" rIns="91425" wrap="square" tIns="45700">
            <a:noAutofit/>
          </a:bodyPr>
          <a:lstStyle/>
          <a:p>
            <a:pPr indent="-368300" lvl="0" marL="457200" rtl="0" algn="l">
              <a:lnSpc>
                <a:spcPct val="150000"/>
              </a:lnSpc>
              <a:spcBef>
                <a:spcPts val="0"/>
              </a:spcBef>
              <a:spcAft>
                <a:spcPts val="0"/>
              </a:spcAft>
              <a:buSzPts val="2200"/>
              <a:buChar char="•"/>
            </a:pPr>
            <a:r>
              <a:rPr lang="it-IT" sz="2200"/>
              <a:t>È una piattaforma di automazione basata su </a:t>
            </a:r>
            <a:r>
              <a:rPr b="1" lang="it-IT" sz="2200"/>
              <a:t>workflow visivi </a:t>
            </a:r>
            <a:r>
              <a:rPr lang="it-IT" sz="2200"/>
              <a:t>(flussi composti da nodi).</a:t>
            </a:r>
            <a:endParaRPr sz="2200"/>
          </a:p>
          <a:p>
            <a:pPr indent="-368300" lvl="0" marL="457200" rtl="0" algn="l">
              <a:lnSpc>
                <a:spcPct val="150000"/>
              </a:lnSpc>
              <a:spcBef>
                <a:spcPts val="0"/>
              </a:spcBef>
              <a:spcAft>
                <a:spcPts val="0"/>
              </a:spcAft>
              <a:buSzPts val="2200"/>
              <a:buChar char="•"/>
            </a:pPr>
            <a:r>
              <a:rPr lang="it-IT" sz="2200"/>
              <a:t>Ha un approccio </a:t>
            </a:r>
            <a:r>
              <a:rPr b="1" lang="it-IT" sz="2200"/>
              <a:t>No-code e Low-code</a:t>
            </a:r>
            <a:r>
              <a:rPr lang="it-IT" sz="2200"/>
              <a:t>.</a:t>
            </a:r>
            <a:endParaRPr sz="2200"/>
          </a:p>
          <a:p>
            <a:pPr indent="-368300" lvl="0" marL="457200" rtl="0" algn="l">
              <a:lnSpc>
                <a:spcPct val="150000"/>
              </a:lnSpc>
              <a:spcBef>
                <a:spcPts val="0"/>
              </a:spcBef>
              <a:spcAft>
                <a:spcPts val="0"/>
              </a:spcAft>
              <a:buSzPts val="2200"/>
              <a:buChar char="•"/>
            </a:pPr>
            <a:r>
              <a:rPr lang="it-IT" sz="2200"/>
              <a:t>È </a:t>
            </a:r>
            <a:r>
              <a:rPr b="1" lang="it-IT" sz="2200"/>
              <a:t>Open-source </a:t>
            </a:r>
            <a:r>
              <a:rPr lang="it-IT" sz="2200"/>
              <a:t>e permette di </a:t>
            </a:r>
            <a:r>
              <a:rPr b="1" lang="it-IT" sz="2200"/>
              <a:t>connettere centinaia di servizi </a:t>
            </a:r>
            <a:r>
              <a:rPr lang="it-IT" sz="2200"/>
              <a:t>comuni come Gmail, Outlook e Google Drive.</a:t>
            </a:r>
            <a:endParaRPr sz="2200"/>
          </a:p>
        </p:txBody>
      </p:sp>
      <p:pic>
        <p:nvPicPr>
          <p:cNvPr id="251" name="Google Shape;251;g3fd4779c472_4_218"/>
          <p:cNvPicPr preferRelativeResize="0"/>
          <p:nvPr/>
        </p:nvPicPr>
        <p:blipFill rotWithShape="1">
          <a:blip r:embed="rId3">
            <a:alphaModFix/>
          </a:blip>
          <a:srcRect b="0" l="0" r="0" t="0"/>
          <a:stretch/>
        </p:blipFill>
        <p:spPr>
          <a:xfrm>
            <a:off x="2534175" y="4396625"/>
            <a:ext cx="4316325" cy="1726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fd4779c472_4_224"/>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80808"/>
              </a:buClr>
              <a:buSzPct val="100000"/>
              <a:buFont typeface="Geist"/>
              <a:buNone/>
            </a:pPr>
            <a:r>
              <a:rPr b="1" lang="it-IT" sz="5000">
                <a:solidFill>
                  <a:srgbClr val="080808"/>
                </a:solidFill>
                <a:latin typeface="Geist"/>
                <a:ea typeface="Geist"/>
                <a:cs typeface="Geist"/>
                <a:sym typeface="Geist"/>
              </a:rPr>
              <a:t>n8n Cloud vs Self Hosted</a:t>
            </a:r>
            <a:endParaRPr b="1" sz="5000">
              <a:solidFill>
                <a:srgbClr val="080808"/>
              </a:solidFill>
              <a:latin typeface="Geist"/>
              <a:ea typeface="Geist"/>
              <a:cs typeface="Geist"/>
              <a:sym typeface="Geist"/>
            </a:endParaRPr>
          </a:p>
          <a:p>
            <a:pPr indent="0" lvl="0" marL="0" rtl="0" algn="ctr">
              <a:lnSpc>
                <a:spcPct val="100000"/>
              </a:lnSpc>
              <a:spcBef>
                <a:spcPts val="0"/>
              </a:spcBef>
              <a:spcAft>
                <a:spcPts val="0"/>
              </a:spcAft>
              <a:buClr>
                <a:schemeClr val="dk1"/>
              </a:buClr>
              <a:buSzPct val="88000"/>
              <a:buFont typeface="Calibri"/>
              <a:buNone/>
            </a:pPr>
            <a:r>
              <a:t/>
            </a:r>
            <a:endParaRPr/>
          </a:p>
        </p:txBody>
      </p:sp>
      <p:graphicFrame>
        <p:nvGraphicFramePr>
          <p:cNvPr id="257" name="Google Shape;257;g3fd4779c472_4_224"/>
          <p:cNvGraphicFramePr/>
          <p:nvPr/>
        </p:nvGraphicFramePr>
        <p:xfrm>
          <a:off x="609600" y="1661900"/>
          <a:ext cx="3000000" cy="3000000"/>
        </p:xfrm>
        <a:graphic>
          <a:graphicData uri="http://schemas.openxmlformats.org/drawingml/2006/table">
            <a:tbl>
              <a:tblPr bandRow="1" firstRow="1">
                <a:noFill/>
                <a:tableStyleId>{FC0A7C61-F1DF-4A50-8135-958D86153745}</a:tableStyleId>
              </a:tblPr>
              <a:tblGrid>
                <a:gridCol w="3048000"/>
                <a:gridCol w="3962400"/>
                <a:gridCol w="3962400"/>
              </a:tblGrid>
              <a:tr h="388075">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rgbClr val="FFFFFF"/>
                          </a:solidFill>
                        </a:rPr>
                        <a:t> </a:t>
                      </a:r>
                      <a:endParaRPr sz="1400" u="none" cap="none" strike="noStrike"/>
                    </a:p>
                  </a:txBody>
                  <a:tcPr marT="45725" marB="45725" marR="121925" marL="121925">
                    <a:solidFill>
                      <a:srgbClr val="FFFFFF"/>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1" lang="it-IT" sz="2600" u="none" cap="none" strike="noStrike">
                          <a:solidFill>
                            <a:srgbClr val="FFFFFF"/>
                          </a:solidFill>
                        </a:rPr>
                        <a:t>Cloud</a:t>
                      </a:r>
                      <a:endParaRPr sz="2600" u="none" cap="none" strike="noStrike"/>
                    </a:p>
                  </a:txBody>
                  <a:tcPr marT="45725" marB="45725" marR="121925" marL="121925" anchor="ctr">
                    <a:solidFill>
                      <a:srgbClr val="0066CC"/>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1" lang="it-IT" sz="2600" u="none" cap="none" strike="noStrike">
                          <a:solidFill>
                            <a:srgbClr val="FFFFFF"/>
                          </a:solidFill>
                        </a:rPr>
                        <a:t>Self-Hosted</a:t>
                      </a:r>
                      <a:endParaRPr sz="2600" u="none" cap="none" strike="noStrike"/>
                    </a:p>
                  </a:txBody>
                  <a:tcPr marT="45725" marB="45725" marR="121925" marL="121925" anchor="ctr">
                    <a:solidFill>
                      <a:srgbClr val="0066CC"/>
                    </a:solidFill>
                  </a:tcPr>
                </a:tc>
              </a:tr>
              <a:tr h="1164275">
                <a:tc>
                  <a:txBody>
                    <a:bodyPr/>
                    <a:lstStyle/>
                    <a:p>
                      <a:pPr indent="0" lvl="0" marL="0" marR="0" rtl="0" algn="l">
                        <a:lnSpc>
                          <a:spcPct val="100000"/>
                        </a:lnSpc>
                        <a:spcBef>
                          <a:spcPts val="0"/>
                        </a:spcBef>
                        <a:spcAft>
                          <a:spcPts val="0"/>
                        </a:spcAft>
                        <a:buClr>
                          <a:srgbClr val="000000"/>
                        </a:buClr>
                        <a:buSzPts val="1800"/>
                        <a:buFont typeface="Arial"/>
                        <a:buNone/>
                      </a:pPr>
                      <a:r>
                        <a:rPr b="1" lang="it-IT" sz="1800" u="none" cap="none" strike="noStrike">
                          <a:solidFill>
                            <a:schemeClr val="dk1"/>
                          </a:solidFill>
                        </a:rPr>
                        <a:t>Pro</a:t>
                      </a:r>
                      <a:endParaRPr b="1"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Setup immediato</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Aggiornamenti gestiti</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Supporto incluso</a:t>
                      </a:r>
                      <a:endParaRPr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Controllo totale su dati</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Scalabilità</a:t>
                      </a:r>
                      <a:endParaRPr sz="1400" u="none" cap="none" strike="noStrike"/>
                    </a:p>
                  </a:txBody>
                  <a:tcPr marT="45725" marB="45725" marR="121925" marL="121925"/>
                </a:tc>
              </a:tr>
              <a:tr h="1164275">
                <a:tc>
                  <a:txBody>
                    <a:bodyPr/>
                    <a:lstStyle/>
                    <a:p>
                      <a:pPr indent="0" lvl="0" marL="0" marR="0" rtl="0" algn="l">
                        <a:lnSpc>
                          <a:spcPct val="100000"/>
                        </a:lnSpc>
                        <a:spcBef>
                          <a:spcPts val="0"/>
                        </a:spcBef>
                        <a:spcAft>
                          <a:spcPts val="0"/>
                        </a:spcAft>
                        <a:buClr>
                          <a:srgbClr val="000000"/>
                        </a:buClr>
                        <a:buSzPts val="1800"/>
                        <a:buFont typeface="Arial"/>
                        <a:buNone/>
                      </a:pPr>
                      <a:r>
                        <a:rPr b="1" lang="it-IT" sz="1800" u="none" cap="none" strike="noStrike">
                          <a:solidFill>
                            <a:schemeClr val="dk1"/>
                          </a:solidFill>
                        </a:rPr>
                        <a:t>Contro</a:t>
                      </a:r>
                      <a:endParaRPr b="1"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Costo mensile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Minore controllo</a:t>
                      </a:r>
                      <a:endParaRPr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Setup tecnico richiesto</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Manutenzione a carico dell’utente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Supporto limitato alla community</a:t>
                      </a:r>
                      <a:endParaRPr sz="1400" u="none" cap="none" strike="noStrike"/>
                    </a:p>
                  </a:txBody>
                  <a:tcPr marT="45725" marB="45725" marR="121925" marL="121925"/>
                </a:tc>
              </a:tr>
              <a:tr h="727675">
                <a:tc>
                  <a:txBody>
                    <a:bodyPr/>
                    <a:lstStyle/>
                    <a:p>
                      <a:pPr indent="0" lvl="0" marL="0" marR="0" rtl="0" algn="l">
                        <a:lnSpc>
                          <a:spcPct val="100000"/>
                        </a:lnSpc>
                        <a:spcBef>
                          <a:spcPts val="0"/>
                        </a:spcBef>
                        <a:spcAft>
                          <a:spcPts val="0"/>
                        </a:spcAft>
                        <a:buClr>
                          <a:srgbClr val="000000"/>
                        </a:buClr>
                        <a:buSzPts val="1800"/>
                        <a:buFont typeface="Arial"/>
                        <a:buNone/>
                      </a:pPr>
                      <a:r>
                        <a:rPr b="1" lang="it-IT" sz="1800" u="none" cap="none" strike="noStrike">
                          <a:solidFill>
                            <a:schemeClr val="dk1"/>
                          </a:solidFill>
                        </a:rPr>
                        <a:t>Ideale per</a:t>
                      </a:r>
                      <a:endParaRPr b="1"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Chi vuole iniziare subito senza configurazioni tecniche</a:t>
                      </a:r>
                      <a:endParaRPr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Chi necessita di controllo totale e integrazione avanzata</a:t>
                      </a:r>
                      <a:endParaRPr sz="1400" u="none" cap="none" strike="noStrike"/>
                    </a:p>
                  </a:txBody>
                  <a:tcPr marT="45725" marB="45725" marR="121925" marL="121925"/>
                </a:tc>
              </a:tr>
              <a:tr h="509350">
                <a:tc>
                  <a:txBody>
                    <a:bodyPr/>
                    <a:lstStyle/>
                    <a:p>
                      <a:pPr indent="0" lvl="0" marL="0" marR="0" rtl="0" algn="l">
                        <a:lnSpc>
                          <a:spcPct val="100000"/>
                        </a:lnSpc>
                        <a:spcBef>
                          <a:spcPts val="0"/>
                        </a:spcBef>
                        <a:spcAft>
                          <a:spcPts val="0"/>
                        </a:spcAft>
                        <a:buClr>
                          <a:srgbClr val="000000"/>
                        </a:buClr>
                        <a:buSzPts val="1800"/>
                        <a:buFont typeface="Arial"/>
                        <a:buNone/>
                      </a:pPr>
                      <a:r>
                        <a:rPr b="1" lang="it-IT" sz="1800" u="none" cap="none" strike="noStrike">
                          <a:solidFill>
                            <a:schemeClr val="dk1"/>
                          </a:solidFill>
                        </a:rPr>
                        <a:t>Esempi di utilizzo</a:t>
                      </a:r>
                      <a:endParaRPr b="1"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Startup, PMI, team non tecnici</a:t>
                      </a:r>
                      <a:endParaRPr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Grandi aziende, sviluppatori, ambienti on-premise</a:t>
                      </a:r>
                      <a:endParaRPr sz="1400" u="none" cap="none" strike="noStrike"/>
                    </a:p>
                  </a:txBody>
                  <a:tcPr marT="45725" marB="45725" marR="121925" marL="121925"/>
                </a:tc>
              </a:tr>
            </a:tbl>
          </a:graphicData>
        </a:graphic>
      </p:graphicFrame>
      <p:pic>
        <p:nvPicPr>
          <p:cNvPr descr="Cloud Database Server Line Icon with Editable Stroke. The Icon is suitable for web design, mobile apps, UI, UX, and GUI design. (Provided by Getty Images)" id="258" name="Google Shape;258;g3fd4779c472_4_224"/>
          <p:cNvPicPr preferRelativeResize="0"/>
          <p:nvPr/>
        </p:nvPicPr>
        <p:blipFill rotWithShape="1">
          <a:blip r:embed="rId3">
            <a:alphaModFix/>
          </a:blip>
          <a:srcRect b="24138" l="0" r="0" t="21559"/>
          <a:stretch/>
        </p:blipFill>
        <p:spPr>
          <a:xfrm>
            <a:off x="5196975" y="1044382"/>
            <a:ext cx="1052360" cy="571469"/>
          </a:xfrm>
          <a:prstGeom prst="rect">
            <a:avLst/>
          </a:prstGeom>
          <a:noFill/>
          <a:ln>
            <a:noFill/>
          </a:ln>
        </p:spPr>
      </p:pic>
      <p:pic>
        <p:nvPicPr>
          <p:cNvPr descr="server vector icon isolated on white background. Outline, thin line server icon for website design and mobile, app development. Thin line server outline icon vector illustration. (Provided by Getty Images)" id="259" name="Google Shape;259;g3fd4779c472_4_224"/>
          <p:cNvPicPr preferRelativeResize="0"/>
          <p:nvPr/>
        </p:nvPicPr>
        <p:blipFill rotWithShape="1">
          <a:blip r:embed="rId4">
            <a:alphaModFix/>
          </a:blip>
          <a:srcRect b="20333" l="0" r="0" t="19134"/>
          <a:stretch/>
        </p:blipFill>
        <p:spPr>
          <a:xfrm>
            <a:off x="9287061" y="1044375"/>
            <a:ext cx="944041" cy="5714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fd4779c472_4_231"/>
          <p:cNvSpPr txBox="1"/>
          <p:nvPr>
            <p:ph type="ctrTitle"/>
          </p:nvPr>
        </p:nvSpPr>
        <p:spPr>
          <a:xfrm>
            <a:off x="601738" y="18584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t>n8n in locale</a:t>
            </a:r>
            <a:endParaRPr/>
          </a:p>
        </p:txBody>
      </p:sp>
      <p:sp>
        <p:nvSpPr>
          <p:cNvPr id="265" name="Google Shape;265;g3fd4779c472_4_231"/>
          <p:cNvSpPr txBox="1"/>
          <p:nvPr>
            <p:ph idx="1" type="body"/>
          </p:nvPr>
        </p:nvSpPr>
        <p:spPr>
          <a:xfrm>
            <a:off x="601750" y="1160750"/>
            <a:ext cx="9770700" cy="4230600"/>
          </a:xfrm>
          <a:prstGeom prst="rect">
            <a:avLst/>
          </a:prstGeom>
          <a:noFill/>
          <a:ln>
            <a:noFill/>
          </a:ln>
        </p:spPr>
        <p:txBody>
          <a:bodyPr anchorCtr="0" anchor="t" bIns="45700" lIns="91425" spcFirstLastPara="1" rIns="91425" wrap="square" tIns="45700">
            <a:noAutofit/>
          </a:bodyPr>
          <a:lstStyle/>
          <a:p>
            <a:pPr indent="-368300" lvl="0" marL="457200" rtl="0" algn="l">
              <a:lnSpc>
                <a:spcPct val="150000"/>
              </a:lnSpc>
              <a:spcBef>
                <a:spcPts val="0"/>
              </a:spcBef>
              <a:spcAft>
                <a:spcPts val="0"/>
              </a:spcAft>
              <a:buSzPts val="2200"/>
              <a:buAutoNum type="arabicPeriod"/>
            </a:pPr>
            <a:r>
              <a:rPr lang="it-IT" sz="2200"/>
              <a:t>Assicurarsi di avere Docker Desktop installato ed in esecuzione.</a:t>
            </a:r>
            <a:endParaRPr sz="2200"/>
          </a:p>
          <a:p>
            <a:pPr indent="0" lvl="0" marL="0" rtl="0" algn="l">
              <a:lnSpc>
                <a:spcPct val="150000"/>
              </a:lnSpc>
              <a:spcBef>
                <a:spcPts val="0"/>
              </a:spcBef>
              <a:spcAft>
                <a:spcPts val="0"/>
              </a:spcAft>
              <a:buNone/>
            </a:pPr>
            <a:r>
              <a:rPr lang="it-IT" sz="2200"/>
              <a:t>Eseguire il seguente comando da terminale:</a:t>
            </a:r>
            <a:br>
              <a:rPr lang="it-IT" sz="2200"/>
            </a:br>
            <a:r>
              <a:rPr lang="it-IT" sz="1200">
                <a:highlight>
                  <a:srgbClr val="CFD7E7"/>
                </a:highlight>
                <a:latin typeface="Roboto Mono"/>
                <a:ea typeface="Roboto Mono"/>
                <a:cs typeface="Roboto Mono"/>
                <a:sym typeface="Roboto Mono"/>
              </a:rPr>
              <a:t>docker volume create n8n_data</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docker run -it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--name n8n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-p 5678:5678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-e GENERIC_TIMEZONE="Europe/Rome"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-e TZ="Europe/Rome"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-e N8N_ENFORCE_SETTINGS_FILE_PERMISSIONS=true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-e N8N_RUNNERS_ENABLED=true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-v n8n_data:/home/node/.n8n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docker.n8n.io/n8nio/n8n</a:t>
            </a:r>
            <a:br>
              <a:rPr lang="it-IT" sz="1400">
                <a:solidFill>
                  <a:srgbClr val="37474F"/>
                </a:solidFill>
                <a:latin typeface="Roboto Mono"/>
                <a:ea typeface="Roboto Mono"/>
                <a:cs typeface="Roboto Mono"/>
                <a:sym typeface="Roboto Mono"/>
              </a:rPr>
            </a:br>
            <a:endParaRPr sz="1400">
              <a:solidFill>
                <a:srgbClr val="37474F"/>
              </a:solidFill>
              <a:latin typeface="Roboto Mono"/>
              <a:ea typeface="Roboto Mono"/>
              <a:cs typeface="Roboto Mono"/>
              <a:sym typeface="Roboto Mono"/>
            </a:endParaRPr>
          </a:p>
          <a:p>
            <a:pPr indent="-368300" lvl="0" marL="457200" rtl="0" algn="l">
              <a:lnSpc>
                <a:spcPct val="150000"/>
              </a:lnSpc>
              <a:spcBef>
                <a:spcPts val="0"/>
              </a:spcBef>
              <a:spcAft>
                <a:spcPts val="0"/>
              </a:spcAft>
              <a:buSzPts val="2200"/>
              <a:buAutoNum type="arabicPeriod"/>
            </a:pPr>
            <a:r>
              <a:rPr lang="it-IT" sz="2200"/>
              <a:t>Una volta che l'installazione è completata, andare su: </a:t>
            </a:r>
            <a:r>
              <a:rPr lang="it-IT" sz="2200" u="sng">
                <a:solidFill>
                  <a:schemeClr val="hlink"/>
                </a:solidFill>
                <a:hlinkClick r:id="rId3"/>
              </a:rPr>
              <a:t>http://localhost:5678</a:t>
            </a:r>
            <a:r>
              <a:rPr lang="it-IT" sz="2200"/>
              <a:t> </a:t>
            </a:r>
            <a:endParaRPr sz="2200"/>
          </a:p>
          <a:p>
            <a:pPr indent="0" lvl="0" marL="0" rtl="0" algn="l">
              <a:lnSpc>
                <a:spcPct val="150000"/>
              </a:lnSpc>
              <a:spcBef>
                <a:spcPts val="0"/>
              </a:spcBef>
              <a:spcAft>
                <a:spcPts val="0"/>
              </a:spcAft>
              <a:buSzPts val="2000"/>
              <a:buNone/>
            </a:pPr>
            <a:r>
              <a:t/>
            </a:r>
            <a:endParaRPr sz="2200"/>
          </a:p>
        </p:txBody>
      </p:sp>
      <p:pic>
        <p:nvPicPr>
          <p:cNvPr id="266" name="Google Shape;266;g3fd4779c472_4_231"/>
          <p:cNvPicPr preferRelativeResize="0"/>
          <p:nvPr/>
        </p:nvPicPr>
        <p:blipFill rotWithShape="1">
          <a:blip r:embed="rId4">
            <a:alphaModFix/>
          </a:blip>
          <a:srcRect b="0" l="0" r="0" t="0"/>
          <a:stretch/>
        </p:blipFill>
        <p:spPr>
          <a:xfrm>
            <a:off x="8077528" y="2151600"/>
            <a:ext cx="2733149" cy="27331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fd4779c472_4_237"/>
          <p:cNvSpPr txBox="1"/>
          <p:nvPr>
            <p:ph type="ctrTitle"/>
          </p:nvPr>
        </p:nvSpPr>
        <p:spPr>
          <a:xfrm>
            <a:off x="601753" y="185850"/>
            <a:ext cx="103194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t>n8n in locale - PowerShell</a:t>
            </a:r>
            <a:endParaRPr/>
          </a:p>
        </p:txBody>
      </p:sp>
      <p:sp>
        <p:nvSpPr>
          <p:cNvPr id="272" name="Google Shape;272;g3fd4779c472_4_237"/>
          <p:cNvSpPr txBox="1"/>
          <p:nvPr>
            <p:ph idx="1" type="body"/>
          </p:nvPr>
        </p:nvSpPr>
        <p:spPr>
          <a:xfrm>
            <a:off x="601750" y="1160750"/>
            <a:ext cx="9770700" cy="4230600"/>
          </a:xfrm>
          <a:prstGeom prst="rect">
            <a:avLst/>
          </a:prstGeom>
          <a:noFill/>
          <a:ln>
            <a:noFill/>
          </a:ln>
        </p:spPr>
        <p:txBody>
          <a:bodyPr anchorCtr="0" anchor="t" bIns="45700" lIns="91425" spcFirstLastPara="1" rIns="91425" wrap="square" tIns="45700">
            <a:noAutofit/>
          </a:bodyPr>
          <a:lstStyle/>
          <a:p>
            <a:pPr indent="-368300" lvl="0" marL="457200" rtl="0" algn="l">
              <a:lnSpc>
                <a:spcPct val="150000"/>
              </a:lnSpc>
              <a:spcBef>
                <a:spcPts val="0"/>
              </a:spcBef>
              <a:spcAft>
                <a:spcPts val="0"/>
              </a:spcAft>
              <a:buSzPts val="2200"/>
              <a:buAutoNum type="arabicPeriod"/>
            </a:pPr>
            <a:r>
              <a:rPr lang="it-IT" sz="2200"/>
              <a:t>Assicurarsi di avere Docker Desktop installato ed in esecuzione.</a:t>
            </a:r>
            <a:endParaRPr sz="2200"/>
          </a:p>
          <a:p>
            <a:pPr indent="0" lvl="0" marL="0" rtl="0" algn="l">
              <a:lnSpc>
                <a:spcPct val="150000"/>
              </a:lnSpc>
              <a:spcBef>
                <a:spcPts val="0"/>
              </a:spcBef>
              <a:spcAft>
                <a:spcPts val="0"/>
              </a:spcAft>
              <a:buNone/>
            </a:pPr>
            <a:r>
              <a:rPr lang="it-IT" sz="2200"/>
              <a:t>Eseguire il seguente comando da terminale:</a:t>
            </a:r>
            <a:br>
              <a:rPr lang="it-IT" sz="2200"/>
            </a:br>
            <a:r>
              <a:rPr lang="it-IT" sz="1200">
                <a:highlight>
                  <a:srgbClr val="CFD7E7"/>
                </a:highlight>
                <a:latin typeface="Roboto Mono"/>
                <a:ea typeface="Roboto Mono"/>
                <a:cs typeface="Roboto Mono"/>
                <a:sym typeface="Roboto Mono"/>
              </a:rPr>
              <a:t>docker run -it --name n8n -p 5678:5678 -e GENERIC_TIMEZONE="Europe/Rome" -e TZ="Europe/Rome" -e N8N_ENFORCE_SETTINGS_FILE_PERMISSIONS=true -e N8N_RUNNERS_ENABLED=true -v n8n_data:/home/node/.n8n docker.n8n.io/n8nio/n8n</a:t>
            </a:r>
            <a:br>
              <a:rPr lang="it-IT" sz="1400">
                <a:solidFill>
                  <a:srgbClr val="37474F"/>
                </a:solidFill>
                <a:latin typeface="Roboto Mono"/>
                <a:ea typeface="Roboto Mono"/>
                <a:cs typeface="Roboto Mono"/>
                <a:sym typeface="Roboto Mono"/>
              </a:rPr>
            </a:br>
            <a:endParaRPr sz="1400">
              <a:solidFill>
                <a:srgbClr val="37474F"/>
              </a:solidFill>
              <a:latin typeface="Roboto Mono"/>
              <a:ea typeface="Roboto Mono"/>
              <a:cs typeface="Roboto Mono"/>
              <a:sym typeface="Roboto Mono"/>
            </a:endParaRPr>
          </a:p>
          <a:p>
            <a:pPr indent="-368300" lvl="0" marL="457200" rtl="0" algn="l">
              <a:lnSpc>
                <a:spcPct val="150000"/>
              </a:lnSpc>
              <a:spcBef>
                <a:spcPts val="0"/>
              </a:spcBef>
              <a:spcAft>
                <a:spcPts val="0"/>
              </a:spcAft>
              <a:buSzPts val="2200"/>
              <a:buAutoNum type="arabicPeriod"/>
            </a:pPr>
            <a:r>
              <a:rPr lang="it-IT" sz="2200"/>
              <a:t>Una volta che l'installazione è completata, andare su: </a:t>
            </a:r>
            <a:r>
              <a:rPr lang="it-IT" sz="2200" u="sng">
                <a:solidFill>
                  <a:schemeClr val="hlink"/>
                </a:solidFill>
                <a:hlinkClick r:id="rId3"/>
              </a:rPr>
              <a:t>http://localhost:5678</a:t>
            </a:r>
            <a:r>
              <a:rPr lang="it-IT" sz="2200"/>
              <a:t> </a:t>
            </a:r>
            <a:endParaRPr sz="2200"/>
          </a:p>
          <a:p>
            <a:pPr indent="0" lvl="0" marL="0" rtl="0" algn="l">
              <a:lnSpc>
                <a:spcPct val="150000"/>
              </a:lnSpc>
              <a:spcBef>
                <a:spcPts val="0"/>
              </a:spcBef>
              <a:spcAft>
                <a:spcPts val="0"/>
              </a:spcAft>
              <a:buSzPts val="2000"/>
              <a:buNone/>
            </a:pPr>
            <a:r>
              <a:t/>
            </a:r>
            <a:endParaRPr sz="2200"/>
          </a:p>
        </p:txBody>
      </p:sp>
      <p:pic>
        <p:nvPicPr>
          <p:cNvPr id="273" name="Google Shape;273;g3fd4779c472_4_237"/>
          <p:cNvPicPr preferRelativeResize="0"/>
          <p:nvPr/>
        </p:nvPicPr>
        <p:blipFill rotWithShape="1">
          <a:blip r:embed="rId4">
            <a:alphaModFix/>
          </a:blip>
          <a:srcRect b="0" l="0" r="0" t="0"/>
          <a:stretch/>
        </p:blipFill>
        <p:spPr>
          <a:xfrm>
            <a:off x="8126530" y="3114162"/>
            <a:ext cx="3346625" cy="3346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fd4779c472_4_243"/>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t>Docker compose</a:t>
            </a:r>
            <a:endParaRPr/>
          </a:p>
        </p:txBody>
      </p:sp>
      <p:sp>
        <p:nvSpPr>
          <p:cNvPr id="279" name="Google Shape;279;g3fd4779c472_4_243"/>
          <p:cNvSpPr txBox="1"/>
          <p:nvPr>
            <p:ph idx="1" type="body"/>
          </p:nvPr>
        </p:nvSpPr>
        <p:spPr>
          <a:xfrm>
            <a:off x="581925" y="1415300"/>
            <a:ext cx="9770700" cy="4906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IT" sz="2200"/>
              <a:t>Per una installazione più corretta e personalizzata in micorservizi:</a:t>
            </a:r>
            <a:br>
              <a:rPr lang="it-IT" sz="2200"/>
            </a:br>
            <a:r>
              <a:rPr lang="it-IT" sz="1400">
                <a:highlight>
                  <a:srgbClr val="CFD7E7"/>
                </a:highlight>
                <a:latin typeface="Roboto Mono"/>
                <a:ea typeface="Roboto Mono"/>
                <a:cs typeface="Roboto Mono"/>
                <a:sym typeface="Roboto Mono"/>
              </a:rPr>
              <a:t>services:</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n8n:</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image: docker.n8n.io/n8nio/n8n:latest</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restart: always</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container_name: n8n-compose</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ports:</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 "127.0.0.1:5678:5678"</a:t>
            </a:r>
            <a:br>
              <a:rPr lang="it-IT" sz="1400">
                <a:solidFill>
                  <a:srgbClr val="37474F"/>
                </a:solidFill>
                <a:latin typeface="Roboto Mono"/>
                <a:ea typeface="Roboto Mono"/>
                <a:cs typeface="Roboto Mono"/>
                <a:sym typeface="Roboto Mono"/>
              </a:rPr>
            </a:br>
            <a:endParaRPr sz="14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it-IT" sz="2200"/>
              <a:t>Eseguire il docker compose con il comando:</a:t>
            </a:r>
            <a:endParaRPr sz="2200"/>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docker compose up</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t>N.B.</a:t>
            </a:r>
            <a:endParaRPr sz="1200"/>
          </a:p>
          <a:p>
            <a:pPr indent="0" lvl="0" marL="0" rtl="0" algn="l">
              <a:lnSpc>
                <a:spcPct val="150000"/>
              </a:lnSpc>
              <a:spcBef>
                <a:spcPts val="0"/>
              </a:spcBef>
              <a:spcAft>
                <a:spcPts val="0"/>
              </a:spcAft>
              <a:buNone/>
            </a:pPr>
            <a:r>
              <a:rPr lang="it-IT" sz="1200"/>
              <a:t>Per eseguire il comando bisogna creare una cartella con dentro un file ‘compose.yml’</a:t>
            </a:r>
            <a:endParaRPr sz="1200"/>
          </a:p>
          <a:p>
            <a:pPr indent="0" lvl="0" marL="0" rtl="0" algn="l">
              <a:lnSpc>
                <a:spcPct val="150000"/>
              </a:lnSpc>
              <a:spcBef>
                <a:spcPts val="0"/>
              </a:spcBef>
              <a:spcAft>
                <a:spcPts val="0"/>
              </a:spcAft>
              <a:buSzPts val="2000"/>
              <a:buNone/>
            </a:pPr>
            <a:r>
              <a:t/>
            </a:r>
            <a:endParaRPr sz="2200"/>
          </a:p>
        </p:txBody>
      </p:sp>
      <p:pic>
        <p:nvPicPr>
          <p:cNvPr id="280" name="Google Shape;280;g3fd4779c472_4_243"/>
          <p:cNvPicPr preferRelativeResize="0"/>
          <p:nvPr/>
        </p:nvPicPr>
        <p:blipFill>
          <a:blip r:embed="rId3">
            <a:alphaModFix/>
          </a:blip>
          <a:stretch>
            <a:fillRect/>
          </a:stretch>
        </p:blipFill>
        <p:spPr>
          <a:xfrm>
            <a:off x="7942401" y="1951201"/>
            <a:ext cx="2661632" cy="338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9"/>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286" name="Google Shape;286;p9"/>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287" name="Google Shape;287;p9"/>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288" name="Google Shape;288;p9"/>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Dal comando all'editor: cosa succede</a:t>
            </a:r>
            <a:endParaRPr/>
          </a:p>
        </p:txBody>
      </p:sp>
      <p:sp>
        <p:nvSpPr>
          <p:cNvPr id="289" name="Google Shape;289;p9"/>
          <p:cNvSpPr txBox="1"/>
          <p:nvPr/>
        </p:nvSpPr>
        <p:spPr>
          <a:xfrm>
            <a:off x="457200" y="1748790"/>
            <a:ext cx="112776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1900">
                <a:solidFill>
                  <a:schemeClr val="dk1"/>
                </a:solidFill>
                <a:latin typeface="Geist"/>
                <a:ea typeface="Geist"/>
                <a:cs typeface="Geist"/>
                <a:sym typeface="Geist"/>
              </a:rPr>
              <a:t>Il container espone l'editor sulla porta 5678 del tuo PC</a:t>
            </a:r>
            <a:endParaRPr sz="2100"/>
          </a:p>
        </p:txBody>
      </p:sp>
      <p:sp>
        <p:nvSpPr>
          <p:cNvPr id="290" name="Google Shape;290;p9"/>
          <p:cNvSpPr/>
          <p:nvPr/>
        </p:nvSpPr>
        <p:spPr>
          <a:xfrm>
            <a:off x="774192" y="3486150"/>
            <a:ext cx="1865376"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docker run</a:t>
            </a:r>
            <a:endParaRPr/>
          </a:p>
        </p:txBody>
      </p:sp>
      <p:sp>
        <p:nvSpPr>
          <p:cNvPr id="291" name="Google Shape;291;p9"/>
          <p:cNvSpPr/>
          <p:nvPr/>
        </p:nvSpPr>
        <p:spPr>
          <a:xfrm>
            <a:off x="2968752" y="3486150"/>
            <a:ext cx="1865376"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Container n8n</a:t>
            </a:r>
            <a:endParaRPr/>
          </a:p>
        </p:txBody>
      </p:sp>
      <p:sp>
        <p:nvSpPr>
          <p:cNvPr id="292" name="Google Shape;292;p9"/>
          <p:cNvSpPr/>
          <p:nvPr/>
        </p:nvSpPr>
        <p:spPr>
          <a:xfrm>
            <a:off x="5163312" y="3486150"/>
            <a:ext cx="1865376"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Server su :5678</a:t>
            </a:r>
            <a:endParaRPr/>
          </a:p>
        </p:txBody>
      </p:sp>
      <p:sp>
        <p:nvSpPr>
          <p:cNvPr id="293" name="Google Shape;293;p9"/>
          <p:cNvSpPr/>
          <p:nvPr/>
        </p:nvSpPr>
        <p:spPr>
          <a:xfrm>
            <a:off x="7357872" y="3486150"/>
            <a:ext cx="1865376"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Editor nel browser</a:t>
            </a:r>
            <a:endParaRPr/>
          </a:p>
        </p:txBody>
      </p:sp>
      <p:sp>
        <p:nvSpPr>
          <p:cNvPr id="294" name="Google Shape;294;p9"/>
          <p:cNvSpPr/>
          <p:nvPr/>
        </p:nvSpPr>
        <p:spPr>
          <a:xfrm>
            <a:off x="9552432" y="3486150"/>
            <a:ext cx="1865376" cy="914400"/>
          </a:xfrm>
          <a:prstGeom prst="ellipse">
            <a:avLst/>
          </a:prstGeom>
          <a:solidFill>
            <a:srgbClr val="EEE3FF"/>
          </a:solidFill>
          <a:ln cap="flat" cmpd="sng" w="19050">
            <a:solidFill>
              <a:srgbClr val="C294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Workflow vuoto</a:t>
            </a:r>
            <a:endParaRPr/>
          </a:p>
        </p:txBody>
      </p:sp>
      <p:cxnSp>
        <p:nvCxnSpPr>
          <p:cNvPr id="295" name="Google Shape;295;p9"/>
          <p:cNvCxnSpPr/>
          <p:nvPr/>
        </p:nvCxnSpPr>
        <p:spPr>
          <a:xfrm>
            <a:off x="2639568" y="3943350"/>
            <a:ext cx="329184" cy="0"/>
          </a:xfrm>
          <a:prstGeom prst="straightConnector1">
            <a:avLst/>
          </a:prstGeom>
          <a:noFill/>
          <a:ln cap="flat" cmpd="sng" w="15875">
            <a:solidFill>
              <a:srgbClr val="080808"/>
            </a:solidFill>
            <a:prstDash val="solid"/>
            <a:miter lim="800000"/>
            <a:headEnd len="sm" w="sm" type="none"/>
            <a:tailEnd len="med" w="med" type="triangle"/>
          </a:ln>
        </p:spPr>
      </p:cxnSp>
      <p:cxnSp>
        <p:nvCxnSpPr>
          <p:cNvPr id="296" name="Google Shape;296;p9"/>
          <p:cNvCxnSpPr/>
          <p:nvPr/>
        </p:nvCxnSpPr>
        <p:spPr>
          <a:xfrm>
            <a:off x="4834128" y="3943350"/>
            <a:ext cx="329184" cy="0"/>
          </a:xfrm>
          <a:prstGeom prst="straightConnector1">
            <a:avLst/>
          </a:prstGeom>
          <a:noFill/>
          <a:ln cap="flat" cmpd="sng" w="15875">
            <a:solidFill>
              <a:srgbClr val="080808"/>
            </a:solidFill>
            <a:prstDash val="solid"/>
            <a:miter lim="800000"/>
            <a:headEnd len="sm" w="sm" type="none"/>
            <a:tailEnd len="med" w="med" type="triangle"/>
          </a:ln>
        </p:spPr>
      </p:cxnSp>
      <p:cxnSp>
        <p:nvCxnSpPr>
          <p:cNvPr id="297" name="Google Shape;297;p9"/>
          <p:cNvCxnSpPr/>
          <p:nvPr/>
        </p:nvCxnSpPr>
        <p:spPr>
          <a:xfrm>
            <a:off x="7028688" y="3943350"/>
            <a:ext cx="329184" cy="0"/>
          </a:xfrm>
          <a:prstGeom prst="straightConnector1">
            <a:avLst/>
          </a:prstGeom>
          <a:noFill/>
          <a:ln cap="flat" cmpd="sng" w="15875">
            <a:solidFill>
              <a:srgbClr val="080808"/>
            </a:solidFill>
            <a:prstDash val="solid"/>
            <a:miter lim="800000"/>
            <a:headEnd len="sm" w="sm" type="none"/>
            <a:tailEnd len="med" w="med" type="triangle"/>
          </a:ln>
        </p:spPr>
      </p:cxnSp>
      <p:cxnSp>
        <p:nvCxnSpPr>
          <p:cNvPr id="298" name="Google Shape;298;p9"/>
          <p:cNvCxnSpPr/>
          <p:nvPr/>
        </p:nvCxnSpPr>
        <p:spPr>
          <a:xfrm>
            <a:off x="9223248" y="3943350"/>
            <a:ext cx="329184" cy="0"/>
          </a:xfrm>
          <a:prstGeom prst="straightConnector1">
            <a:avLst/>
          </a:prstGeom>
          <a:noFill/>
          <a:ln cap="flat" cmpd="sng" w="15875">
            <a:solidFill>
              <a:srgbClr val="080808"/>
            </a:solidFill>
            <a:prstDash val="solid"/>
            <a:miter lim="800000"/>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2"/>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04" name="Google Shape;304;p12"/>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05" name="Google Shape;305;p12"/>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306" name="Google Shape;306;p12"/>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TigellAI vive di due flussi paralleli</a:t>
            </a:r>
            <a:endParaRPr/>
          </a:p>
        </p:txBody>
      </p:sp>
      <p:pic>
        <p:nvPicPr>
          <p:cNvPr id="307" name="Google Shape;307;p12"/>
          <p:cNvPicPr preferRelativeResize="0"/>
          <p:nvPr/>
        </p:nvPicPr>
        <p:blipFill>
          <a:blip r:embed="rId4">
            <a:alphaModFix/>
          </a:blip>
          <a:stretch>
            <a:fillRect/>
          </a:stretch>
        </p:blipFill>
        <p:spPr>
          <a:xfrm>
            <a:off x="548650" y="1390085"/>
            <a:ext cx="8759368" cy="43129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fd4779c472_4_425"/>
          <p:cNvSpPr txBox="1"/>
          <p:nvPr/>
        </p:nvSpPr>
        <p:spPr>
          <a:xfrm>
            <a:off x="1706267" y="6355080"/>
            <a:ext cx="10028400" cy="338400"/>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13" name="Google Shape;313;g3fd4779c472_4_425"/>
          <p:cNvPicPr preferRelativeResize="0"/>
          <p:nvPr/>
        </p:nvPicPr>
        <p:blipFill rotWithShape="1">
          <a:blip r:embed="rId3">
            <a:alphaModFix/>
          </a:blip>
          <a:srcRect b="0" l="0" r="0" t="0"/>
          <a:stretch/>
        </p:blipFill>
        <p:spPr>
          <a:xfrm>
            <a:off x="457200" y="6439662"/>
            <a:ext cx="947314" cy="169164"/>
          </a:xfrm>
          <a:prstGeom prst="rect">
            <a:avLst/>
          </a:prstGeom>
          <a:noFill/>
          <a:ln>
            <a:noFill/>
          </a:ln>
        </p:spPr>
      </p:pic>
      <p:sp>
        <p:nvSpPr>
          <p:cNvPr id="314" name="Google Shape;314;g3fd4779c472_4_425"/>
          <p:cNvSpPr/>
          <p:nvPr/>
        </p:nvSpPr>
        <p:spPr>
          <a:xfrm>
            <a:off x="1541675" y="6355080"/>
            <a:ext cx="27300" cy="338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315" name="Google Shape;315;g3fd4779c472_4_425"/>
          <p:cNvSpPr txBox="1"/>
          <p:nvPr/>
        </p:nvSpPr>
        <p:spPr>
          <a:xfrm>
            <a:off x="548640" y="256032"/>
            <a:ext cx="10515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TigellAI vive di due flussi paralleli</a:t>
            </a:r>
            <a:endParaRPr/>
          </a:p>
        </p:txBody>
      </p:sp>
      <p:pic>
        <p:nvPicPr>
          <p:cNvPr id="316" name="Google Shape;316;g3fd4779c472_4_425"/>
          <p:cNvPicPr preferRelativeResize="0"/>
          <p:nvPr/>
        </p:nvPicPr>
        <p:blipFill>
          <a:blip r:embed="rId4">
            <a:alphaModFix/>
          </a:blip>
          <a:stretch>
            <a:fillRect/>
          </a:stretch>
        </p:blipFill>
        <p:spPr>
          <a:xfrm>
            <a:off x="838200" y="1690312"/>
            <a:ext cx="10515599" cy="2967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Agente con RAG vs agente senza</a:t>
            </a:r>
            <a:endParaRPr/>
          </a:p>
        </p:txBody>
      </p:sp>
      <p:sp>
        <p:nvSpPr>
          <p:cNvPr id="322" name="Google Shape;322;p16"/>
          <p:cNvSpPr txBox="1"/>
          <p:nvPr>
            <p:ph idx="2" type="body"/>
          </p:nvPr>
        </p:nvSpPr>
        <p:spPr>
          <a:xfrm>
            <a:off x="1292625" y="2473850"/>
            <a:ext cx="5157900" cy="15393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Inventa piatti inesistenti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Non conosce i prezzi veri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Aggiorni il menù = riscrivi</a:t>
            </a:r>
            <a:endParaRPr/>
          </a:p>
        </p:txBody>
      </p:sp>
      <p:sp>
        <p:nvSpPr>
          <p:cNvPr id="323" name="Google Shape;323;p16"/>
          <p:cNvSpPr txBox="1"/>
          <p:nvPr>
            <p:ph idx="4" type="body"/>
          </p:nvPr>
        </p:nvSpPr>
        <p:spPr>
          <a:xfrm>
            <a:off x="6625025" y="2473850"/>
            <a:ext cx="5183100" cy="1414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Risponde dal menù reale</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Prezzi e ingredienti corretti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Nuovo PDF = nuovo menù</a:t>
            </a:r>
            <a:endParaRPr/>
          </a:p>
        </p:txBody>
      </p:sp>
      <p:sp>
        <p:nvSpPr>
          <p:cNvPr id="324" name="Google Shape;324;p16"/>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25" name="Google Shape;325;p16"/>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26" name="Google Shape;326;p16"/>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red cross on a white background has a brush stroke on it (Provided by Tenor)" id="327" name="Google Shape;327;p16"/>
          <p:cNvPicPr preferRelativeResize="0"/>
          <p:nvPr/>
        </p:nvPicPr>
        <p:blipFill>
          <a:blip r:embed="rId4">
            <a:alphaModFix/>
          </a:blip>
          <a:stretch>
            <a:fillRect/>
          </a:stretch>
        </p:blipFill>
        <p:spPr>
          <a:xfrm>
            <a:off x="1857350" y="3888050"/>
            <a:ext cx="2131005" cy="2131005"/>
          </a:xfrm>
          <a:prstGeom prst="rect">
            <a:avLst/>
          </a:prstGeom>
          <a:noFill/>
          <a:ln>
            <a:noFill/>
          </a:ln>
        </p:spPr>
      </p:pic>
      <p:pic>
        <p:nvPicPr>
          <p:cNvPr descr="a green check mark on a white background with a shadow (Provided by Tenor)" id="328" name="Google Shape;328;p16"/>
          <p:cNvPicPr preferRelativeResize="0"/>
          <p:nvPr/>
        </p:nvPicPr>
        <p:blipFill>
          <a:blip r:embed="rId5">
            <a:alphaModFix/>
          </a:blip>
          <a:stretch>
            <a:fillRect/>
          </a:stretch>
        </p:blipFill>
        <p:spPr>
          <a:xfrm>
            <a:off x="7149450" y="3712525"/>
            <a:ext cx="2563971" cy="21310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7"/>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34" name="Google Shape;334;p17"/>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35" name="Google Shape;335;p17"/>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336" name="Google Shape;336;p17"/>
          <p:cNvSpPr txBox="1"/>
          <p:nvPr/>
        </p:nvSpPr>
        <p:spPr>
          <a:xfrm>
            <a:off x="457190" y="255882"/>
            <a:ext cx="10515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La pipeline che divora il PDF</a:t>
            </a:r>
            <a:endParaRPr/>
          </a:p>
        </p:txBody>
      </p:sp>
      <p:sp>
        <p:nvSpPr>
          <p:cNvPr id="337" name="Google Shape;337;p17"/>
          <p:cNvSpPr/>
          <p:nvPr/>
        </p:nvSpPr>
        <p:spPr>
          <a:xfrm>
            <a:off x="883920" y="1446900"/>
            <a:ext cx="310890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Form Trigger upload</a:t>
            </a:r>
            <a:endParaRPr/>
          </a:p>
        </p:txBody>
      </p:sp>
      <p:sp>
        <p:nvSpPr>
          <p:cNvPr id="338" name="Google Shape;338;p17"/>
          <p:cNvSpPr/>
          <p:nvPr/>
        </p:nvSpPr>
        <p:spPr>
          <a:xfrm>
            <a:off x="883920" y="4343400"/>
            <a:ext cx="310896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Embeddings Ollama</a:t>
            </a:r>
            <a:endParaRPr/>
          </a:p>
        </p:txBody>
      </p:sp>
      <p:sp>
        <p:nvSpPr>
          <p:cNvPr id="339" name="Google Shape;339;p17"/>
          <p:cNvSpPr/>
          <p:nvPr/>
        </p:nvSpPr>
        <p:spPr>
          <a:xfrm>
            <a:off x="4541520" y="1446900"/>
            <a:ext cx="310890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Extract from File</a:t>
            </a:r>
            <a:endParaRPr/>
          </a:p>
        </p:txBody>
      </p:sp>
      <p:sp>
        <p:nvSpPr>
          <p:cNvPr id="340" name="Google Shape;340;p17"/>
          <p:cNvSpPr/>
          <p:nvPr/>
        </p:nvSpPr>
        <p:spPr>
          <a:xfrm>
            <a:off x="4541520" y="4343400"/>
            <a:ext cx="3108960" cy="914400"/>
          </a:xfrm>
          <a:prstGeom prst="roundRect">
            <a:avLst>
              <a:gd fmla="val 16667" name="adj"/>
            </a:avLst>
          </a:prstGeom>
          <a:solidFill>
            <a:srgbClr val="FFE2D2"/>
          </a:solidFill>
          <a:ln cap="flat" cmpd="sng" w="19050">
            <a:solidFill>
              <a:srgbClr val="FE5D0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Vector Store insert</a:t>
            </a:r>
            <a:endParaRPr/>
          </a:p>
        </p:txBody>
      </p:sp>
      <p:sp>
        <p:nvSpPr>
          <p:cNvPr id="341" name="Google Shape;341;p17"/>
          <p:cNvSpPr/>
          <p:nvPr/>
        </p:nvSpPr>
        <p:spPr>
          <a:xfrm>
            <a:off x="8199120" y="1446900"/>
            <a:ext cx="310890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Default Data Loader</a:t>
            </a:r>
            <a:endParaRPr/>
          </a:p>
        </p:txBody>
      </p:sp>
      <p:sp>
        <p:nvSpPr>
          <p:cNvPr id="342" name="Google Shape;342;p17"/>
          <p:cNvSpPr/>
          <p:nvPr/>
        </p:nvSpPr>
        <p:spPr>
          <a:xfrm>
            <a:off x="8199120" y="4343400"/>
            <a:ext cx="3108960" cy="914400"/>
          </a:xfrm>
          <a:prstGeom prst="ellipse">
            <a:avLst/>
          </a:prstGeom>
          <a:solidFill>
            <a:srgbClr val="EEE3FF"/>
          </a:solidFill>
          <a:ln cap="flat" cmpd="sng" w="19050">
            <a:solidFill>
              <a:srgbClr val="C294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Menu interrogabile</a:t>
            </a:r>
            <a:endParaRPr/>
          </a:p>
        </p:txBody>
      </p:sp>
      <p:cxnSp>
        <p:nvCxnSpPr>
          <p:cNvPr id="343" name="Google Shape;343;p17"/>
          <p:cNvCxnSpPr/>
          <p:nvPr/>
        </p:nvCxnSpPr>
        <p:spPr>
          <a:xfrm>
            <a:off x="3992880" y="1904100"/>
            <a:ext cx="54870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344" name="Google Shape;344;p17"/>
          <p:cNvCxnSpPr/>
          <p:nvPr/>
        </p:nvCxnSpPr>
        <p:spPr>
          <a:xfrm>
            <a:off x="7650480" y="1904100"/>
            <a:ext cx="54870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345" name="Google Shape;345;p17"/>
          <p:cNvCxnSpPr/>
          <p:nvPr/>
        </p:nvCxnSpPr>
        <p:spPr>
          <a:xfrm>
            <a:off x="3992880" y="4800600"/>
            <a:ext cx="54864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346" name="Google Shape;346;p17"/>
          <p:cNvCxnSpPr/>
          <p:nvPr/>
        </p:nvCxnSpPr>
        <p:spPr>
          <a:xfrm>
            <a:off x="7650480" y="4800600"/>
            <a:ext cx="54864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347" name="Google Shape;347;p17"/>
          <p:cNvCxnSpPr>
            <a:stCxn id="341" idx="2"/>
            <a:endCxn id="340" idx="0"/>
          </p:cNvCxnSpPr>
          <p:nvPr/>
        </p:nvCxnSpPr>
        <p:spPr>
          <a:xfrm flipH="1">
            <a:off x="6095970" y="2361300"/>
            <a:ext cx="3657600" cy="19821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8"/>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Cosa fa ciascun nodo RAG</a:t>
            </a:r>
            <a:endParaRPr/>
          </a:p>
        </p:txBody>
      </p:sp>
      <p:sp>
        <p:nvSpPr>
          <p:cNvPr id="353" name="Google Shape;353;p18"/>
          <p:cNvSpPr txBox="1"/>
          <p:nvPr>
            <p:ph idx="1" type="body"/>
          </p:nvPr>
        </p:nvSpPr>
        <p:spPr>
          <a:xfrm>
            <a:off x="551880" y="2305350"/>
            <a:ext cx="48039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Form Trigger: carichi il PDF</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Extract: PDF diventa testo</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Data Loader: spezza in chunk</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Embeddings: testo diventa numeri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Vector Store: archivia i vettori</a:t>
            </a:r>
            <a:endParaRPr/>
          </a:p>
        </p:txBody>
      </p:sp>
      <p:sp>
        <p:nvSpPr>
          <p:cNvPr id="354" name="Google Shape;354;p18"/>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55" name="Google Shape;355;p18"/>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56" name="Google Shape;356;p18"/>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grpSp>
        <p:nvGrpSpPr>
          <p:cNvPr id="357" name="Google Shape;357;p18"/>
          <p:cNvGrpSpPr/>
          <p:nvPr/>
        </p:nvGrpSpPr>
        <p:grpSpPr>
          <a:xfrm>
            <a:off x="4563346" y="2373379"/>
            <a:ext cx="7451511" cy="2903871"/>
            <a:chOff x="755425" y="1752875"/>
            <a:chExt cx="11212025" cy="4369351"/>
          </a:xfrm>
        </p:grpSpPr>
        <p:pic>
          <p:nvPicPr>
            <p:cNvPr id="358" name="Google Shape;358;p18"/>
            <p:cNvPicPr preferRelativeResize="0"/>
            <p:nvPr/>
          </p:nvPicPr>
          <p:blipFill rotWithShape="1">
            <a:blip r:embed="rId4">
              <a:alphaModFix/>
            </a:blip>
            <a:srcRect b="53709" l="2976" r="4329" t="4353"/>
            <a:stretch/>
          </p:blipFill>
          <p:spPr>
            <a:xfrm>
              <a:off x="755425" y="1752875"/>
              <a:ext cx="5986355" cy="2446924"/>
            </a:xfrm>
            <a:prstGeom prst="rect">
              <a:avLst/>
            </a:prstGeom>
            <a:noFill/>
            <a:ln>
              <a:noFill/>
            </a:ln>
          </p:spPr>
        </p:pic>
        <p:pic>
          <p:nvPicPr>
            <p:cNvPr id="359" name="Google Shape;359;p18"/>
            <p:cNvPicPr preferRelativeResize="0"/>
            <p:nvPr/>
          </p:nvPicPr>
          <p:blipFill rotWithShape="1">
            <a:blip r:embed="rId4">
              <a:alphaModFix/>
            </a:blip>
            <a:srcRect b="4701" l="4616" r="3801" t="46632"/>
            <a:stretch/>
          </p:blipFill>
          <p:spPr>
            <a:xfrm>
              <a:off x="6536125" y="3514400"/>
              <a:ext cx="5431324" cy="2607826"/>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9"/>
          <p:cNvSpPr txBox="1"/>
          <p:nvPr>
            <p:ph type="ctrTitle"/>
          </p:nvPr>
        </p:nvSpPr>
        <p:spPr>
          <a:xfrm>
            <a:off x="581913" y="502995"/>
            <a:ext cx="8220850" cy="91217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latin typeface="Geist"/>
                <a:ea typeface="Geist"/>
                <a:cs typeface="Geist"/>
                <a:sym typeface="Geist"/>
              </a:rPr>
              <a:t>L'embedder è il traduttore</a:t>
            </a:r>
            <a:endParaRPr/>
          </a:p>
        </p:txBody>
      </p:sp>
      <p:sp>
        <p:nvSpPr>
          <p:cNvPr id="365" name="Google Shape;365;p19"/>
          <p:cNvSpPr txBox="1"/>
          <p:nvPr>
            <p:ph idx="1" type="body"/>
          </p:nvPr>
        </p:nvSpPr>
        <p:spPr>
          <a:xfrm>
            <a:off x="581925" y="2349050"/>
            <a:ext cx="4310400" cy="1639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it-IT" sz="2600"/>
              <a:t>T</a:t>
            </a:r>
            <a:r>
              <a:rPr lang="it-IT" sz="2600"/>
              <a:t>rasforma 'tigella ai salumi' in un punto preciso dello spazio vettoriale</a:t>
            </a:r>
            <a:endParaRPr/>
          </a:p>
        </p:txBody>
      </p:sp>
      <p:sp>
        <p:nvSpPr>
          <p:cNvPr id="366" name="Google Shape;366;p19"/>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67" name="Google Shape;367;p19"/>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68" name="Google Shape;368;p19"/>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id="369" name="Google Shape;369;p19"/>
          <p:cNvPicPr preferRelativeResize="0"/>
          <p:nvPr/>
        </p:nvPicPr>
        <p:blipFill>
          <a:blip r:embed="rId4">
            <a:alphaModFix/>
          </a:blip>
          <a:stretch>
            <a:fillRect/>
          </a:stretch>
        </p:blipFill>
        <p:spPr>
          <a:xfrm>
            <a:off x="5575675" y="1529060"/>
            <a:ext cx="4610901" cy="4712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2"/>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75" name="Google Shape;375;p22"/>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76" name="Google Shape;376;p22"/>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377" name="Google Shape;377;p22"/>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Cosa c'è dentro l'AI Agent</a:t>
            </a:r>
            <a:endParaRPr/>
          </a:p>
        </p:txBody>
      </p:sp>
      <p:sp>
        <p:nvSpPr>
          <p:cNvPr id="378" name="Google Shape;378;p22"/>
          <p:cNvSpPr txBox="1"/>
          <p:nvPr/>
        </p:nvSpPr>
        <p:spPr>
          <a:xfrm>
            <a:off x="548650" y="1289674"/>
            <a:ext cx="112776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1900">
                <a:solidFill>
                  <a:schemeClr val="dk1"/>
                </a:solidFill>
                <a:latin typeface="Geist"/>
                <a:ea typeface="Geist"/>
                <a:cs typeface="Geist"/>
                <a:sym typeface="Geist"/>
              </a:rPr>
              <a:t>L'agente non è solo il modello: è modello + memoria + strumenti</a:t>
            </a:r>
            <a:endParaRPr sz="2100"/>
          </a:p>
        </p:txBody>
      </p:sp>
      <p:sp>
        <p:nvSpPr>
          <p:cNvPr id="379" name="Google Shape;379;p22"/>
          <p:cNvSpPr/>
          <p:nvPr/>
        </p:nvSpPr>
        <p:spPr>
          <a:xfrm>
            <a:off x="4541520" y="2628900"/>
            <a:ext cx="3108960" cy="914400"/>
          </a:xfrm>
          <a:prstGeom prst="roundRect">
            <a:avLst>
              <a:gd fmla="val 16667" name="adj"/>
            </a:avLst>
          </a:prstGeom>
          <a:solidFill>
            <a:srgbClr val="F5D9E2"/>
          </a:solidFill>
          <a:ln cap="flat" cmpd="sng" w="19050">
            <a:solidFill>
              <a:srgbClr val="68003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AI </a:t>
            </a:r>
            <a:r>
              <a:rPr lang="it-IT" sz="1200">
                <a:solidFill>
                  <a:srgbClr val="080808"/>
                </a:solidFill>
                <a:latin typeface="Geist"/>
                <a:ea typeface="Geist"/>
                <a:cs typeface="Geist"/>
                <a:sym typeface="Geist"/>
              </a:rPr>
              <a:t>Agent</a:t>
            </a:r>
            <a:endParaRPr/>
          </a:p>
        </p:txBody>
      </p:sp>
      <p:sp>
        <p:nvSpPr>
          <p:cNvPr id="380" name="Google Shape;380;p22"/>
          <p:cNvSpPr/>
          <p:nvPr/>
        </p:nvSpPr>
        <p:spPr>
          <a:xfrm>
            <a:off x="883920" y="4343400"/>
            <a:ext cx="310896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Simple Memory 10 turni</a:t>
            </a:r>
            <a:endParaRPr/>
          </a:p>
        </p:txBody>
      </p:sp>
      <p:sp>
        <p:nvSpPr>
          <p:cNvPr id="381" name="Google Shape;381;p22"/>
          <p:cNvSpPr/>
          <p:nvPr/>
        </p:nvSpPr>
        <p:spPr>
          <a:xfrm>
            <a:off x="4541520" y="4343400"/>
            <a:ext cx="310896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Vector Store come tool</a:t>
            </a:r>
            <a:endParaRPr/>
          </a:p>
        </p:txBody>
      </p:sp>
      <p:sp>
        <p:nvSpPr>
          <p:cNvPr id="382" name="Google Shape;382;p22"/>
          <p:cNvSpPr/>
          <p:nvPr/>
        </p:nvSpPr>
        <p:spPr>
          <a:xfrm>
            <a:off x="8199120" y="4343400"/>
            <a:ext cx="310896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Think tool</a:t>
            </a:r>
            <a:endParaRPr/>
          </a:p>
        </p:txBody>
      </p:sp>
      <p:cxnSp>
        <p:nvCxnSpPr>
          <p:cNvPr id="383" name="Google Shape;383;p22"/>
          <p:cNvCxnSpPr/>
          <p:nvPr/>
        </p:nvCxnSpPr>
        <p:spPr>
          <a:xfrm flipH="1">
            <a:off x="2438400" y="3543300"/>
            <a:ext cx="3657600" cy="800100"/>
          </a:xfrm>
          <a:prstGeom prst="straightConnector1">
            <a:avLst/>
          </a:prstGeom>
          <a:noFill/>
          <a:ln cap="flat" cmpd="sng" w="15875">
            <a:solidFill>
              <a:srgbClr val="080808"/>
            </a:solidFill>
            <a:prstDash val="solid"/>
            <a:miter lim="800000"/>
            <a:headEnd len="sm" w="sm" type="none"/>
            <a:tailEnd len="med" w="med" type="triangle"/>
          </a:ln>
        </p:spPr>
      </p:cxnSp>
      <p:cxnSp>
        <p:nvCxnSpPr>
          <p:cNvPr id="384" name="Google Shape;384;p22"/>
          <p:cNvCxnSpPr/>
          <p:nvPr/>
        </p:nvCxnSpPr>
        <p:spPr>
          <a:xfrm>
            <a:off x="6096000" y="3543300"/>
            <a:ext cx="0" cy="800100"/>
          </a:xfrm>
          <a:prstGeom prst="straightConnector1">
            <a:avLst/>
          </a:prstGeom>
          <a:noFill/>
          <a:ln cap="flat" cmpd="sng" w="15875">
            <a:solidFill>
              <a:srgbClr val="080808"/>
            </a:solidFill>
            <a:prstDash val="solid"/>
            <a:miter lim="800000"/>
            <a:headEnd len="sm" w="sm" type="none"/>
            <a:tailEnd len="med" w="med" type="triangle"/>
          </a:ln>
        </p:spPr>
      </p:cxnSp>
      <p:cxnSp>
        <p:nvCxnSpPr>
          <p:cNvPr id="385" name="Google Shape;385;p22"/>
          <p:cNvCxnSpPr/>
          <p:nvPr/>
        </p:nvCxnSpPr>
        <p:spPr>
          <a:xfrm>
            <a:off x="6096000" y="3543300"/>
            <a:ext cx="3657600" cy="800100"/>
          </a:xfrm>
          <a:prstGeom prst="straightConnector1">
            <a:avLst/>
          </a:prstGeom>
          <a:noFill/>
          <a:ln cap="flat" cmpd="sng" w="15875">
            <a:solidFill>
              <a:srgbClr val="080808"/>
            </a:solidFill>
            <a:prstDash val="solid"/>
            <a:miter lim="800000"/>
            <a:headEnd len="sm" w="sm"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3"/>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I tre strumenti dell'agente</a:t>
            </a:r>
            <a:endParaRPr/>
          </a:p>
        </p:txBody>
      </p:sp>
      <p:sp>
        <p:nvSpPr>
          <p:cNvPr id="391" name="Google Shape;391;p23"/>
          <p:cNvSpPr txBox="1"/>
          <p:nvPr>
            <p:ph idx="1" type="body"/>
          </p:nvPr>
        </p:nvSpPr>
        <p:spPr>
          <a:xfrm>
            <a:off x="551875" y="2305350"/>
            <a:ext cx="4515000" cy="1304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AutoNum type="arabicPeriod"/>
            </a:pPr>
            <a:r>
              <a:rPr b="1" lang="it-IT" sz="2000"/>
              <a:t>Vector Store</a:t>
            </a:r>
            <a:r>
              <a:rPr lang="it-IT" sz="2000">
                <a:latin typeface="Geist"/>
                <a:ea typeface="Geist"/>
                <a:cs typeface="Geist"/>
                <a:sym typeface="Geist"/>
              </a:rPr>
              <a:t>: consulta il menù</a:t>
            </a:r>
            <a:endParaRPr/>
          </a:p>
          <a:p>
            <a:pPr indent="-228600" lvl="0" marL="228600" rtl="0" algn="l">
              <a:lnSpc>
                <a:spcPct val="90000"/>
              </a:lnSpc>
              <a:spcBef>
                <a:spcPts val="1000"/>
              </a:spcBef>
              <a:spcAft>
                <a:spcPts val="0"/>
              </a:spcAft>
              <a:buClr>
                <a:schemeClr val="dk1"/>
              </a:buClr>
              <a:buSzPts val="2000"/>
              <a:buFont typeface="Geist"/>
              <a:buAutoNum type="arabicPeriod"/>
            </a:pPr>
            <a:r>
              <a:rPr b="1" lang="it-IT" sz="2000"/>
              <a:t>Memory</a:t>
            </a:r>
            <a:r>
              <a:rPr lang="it-IT" sz="2000">
                <a:latin typeface="Geist"/>
                <a:ea typeface="Geist"/>
                <a:cs typeface="Geist"/>
                <a:sym typeface="Geist"/>
              </a:rPr>
              <a:t>: ricorda cosa ha detto</a:t>
            </a:r>
            <a:endParaRPr/>
          </a:p>
          <a:p>
            <a:pPr indent="-228600" lvl="0" marL="228600" rtl="0" algn="l">
              <a:lnSpc>
                <a:spcPct val="90000"/>
              </a:lnSpc>
              <a:spcBef>
                <a:spcPts val="1000"/>
              </a:spcBef>
              <a:spcAft>
                <a:spcPts val="0"/>
              </a:spcAft>
              <a:buClr>
                <a:schemeClr val="dk1"/>
              </a:buClr>
              <a:buSzPts val="2000"/>
              <a:buFont typeface="Geist"/>
              <a:buAutoNum type="arabicPeriod"/>
            </a:pPr>
            <a:r>
              <a:rPr b="1" lang="it-IT" sz="2000"/>
              <a:t>Think</a:t>
            </a:r>
            <a:r>
              <a:rPr lang="it-IT" sz="2000">
                <a:latin typeface="Geist"/>
                <a:ea typeface="Geist"/>
                <a:cs typeface="Geist"/>
                <a:sym typeface="Geist"/>
              </a:rPr>
              <a:t>: ragiona prima di parlare</a:t>
            </a:r>
            <a:endParaRPr/>
          </a:p>
        </p:txBody>
      </p:sp>
      <p:sp>
        <p:nvSpPr>
          <p:cNvPr id="392" name="Google Shape;392;p23"/>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93" name="Google Shape;393;p23"/>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94" name="Google Shape;394;p23"/>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make the background black" id="395" name="Google Shape;395;p23"/>
          <p:cNvPicPr preferRelativeResize="0"/>
          <p:nvPr/>
        </p:nvPicPr>
        <p:blipFill>
          <a:blip r:embed="rId4">
            <a:alphaModFix/>
          </a:blip>
          <a:stretch>
            <a:fillRect/>
          </a:stretch>
        </p:blipFill>
        <p:spPr>
          <a:xfrm>
            <a:off x="5489770" y="1277903"/>
            <a:ext cx="5161780" cy="516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4"/>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01" name="Google Shape;401;p24"/>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02" name="Google Shape;402;p24"/>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403" name="Google Shape;403;p24"/>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Il contesto prima della risposta</a:t>
            </a:r>
            <a:endParaRPr/>
          </a:p>
        </p:txBody>
      </p:sp>
      <p:sp>
        <p:nvSpPr>
          <p:cNvPr id="404" name="Google Shape;404;p24"/>
          <p:cNvSpPr txBox="1"/>
          <p:nvPr/>
        </p:nvSpPr>
        <p:spPr>
          <a:xfrm>
            <a:off x="457200" y="1352438"/>
            <a:ext cx="11277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2500">
                <a:solidFill>
                  <a:schemeClr val="dk1"/>
                </a:solidFill>
                <a:latin typeface="Geist"/>
                <a:ea typeface="Geist"/>
                <a:cs typeface="Geist"/>
                <a:sym typeface="Geist"/>
              </a:rPr>
              <a:t>Ora, meteo e mood arrivano all'agente prima che apra bocca</a:t>
            </a:r>
            <a:endParaRPr sz="2700"/>
          </a:p>
        </p:txBody>
      </p:sp>
      <p:sp>
        <p:nvSpPr>
          <p:cNvPr id="405" name="Google Shape;405;p24"/>
          <p:cNvSpPr/>
          <p:nvPr/>
        </p:nvSpPr>
        <p:spPr>
          <a:xfrm>
            <a:off x="7467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Chat Trigger</a:t>
            </a:r>
            <a:endParaRPr/>
          </a:p>
        </p:txBody>
      </p:sp>
      <p:sp>
        <p:nvSpPr>
          <p:cNvPr id="406" name="Google Shape;406;p24"/>
          <p:cNvSpPr/>
          <p:nvPr/>
        </p:nvSpPr>
        <p:spPr>
          <a:xfrm>
            <a:off x="25755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Date and Time</a:t>
            </a:r>
            <a:endParaRPr/>
          </a:p>
        </p:txBody>
      </p:sp>
      <p:sp>
        <p:nvSpPr>
          <p:cNvPr id="407" name="Google Shape;407;p24"/>
          <p:cNvSpPr/>
          <p:nvPr/>
        </p:nvSpPr>
        <p:spPr>
          <a:xfrm>
            <a:off x="44043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Format Data</a:t>
            </a:r>
            <a:endParaRPr/>
          </a:p>
        </p:txBody>
      </p:sp>
      <p:sp>
        <p:nvSpPr>
          <p:cNvPr id="408" name="Google Shape;408;p24"/>
          <p:cNvSpPr/>
          <p:nvPr/>
        </p:nvSpPr>
        <p:spPr>
          <a:xfrm>
            <a:off x="62331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OpenWeatherMap Bologna</a:t>
            </a:r>
            <a:endParaRPr/>
          </a:p>
        </p:txBody>
      </p:sp>
      <p:sp>
        <p:nvSpPr>
          <p:cNvPr id="409" name="Google Shape;409;p24"/>
          <p:cNvSpPr/>
          <p:nvPr/>
        </p:nvSpPr>
        <p:spPr>
          <a:xfrm>
            <a:off x="80619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Contesto Emotivo Python</a:t>
            </a:r>
            <a:endParaRPr/>
          </a:p>
        </p:txBody>
      </p:sp>
      <p:sp>
        <p:nvSpPr>
          <p:cNvPr id="410" name="Google Shape;410;p24"/>
          <p:cNvSpPr/>
          <p:nvPr/>
        </p:nvSpPr>
        <p:spPr>
          <a:xfrm>
            <a:off x="9890760" y="3486150"/>
            <a:ext cx="1554480" cy="914400"/>
          </a:xfrm>
          <a:prstGeom prst="roundRect">
            <a:avLst>
              <a:gd fmla="val 16667" name="adj"/>
            </a:avLst>
          </a:prstGeom>
          <a:solidFill>
            <a:srgbClr val="F5D9E2"/>
          </a:solidFill>
          <a:ln cap="flat" cmpd="sng" w="19050">
            <a:solidFill>
              <a:srgbClr val="68003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AI Agent</a:t>
            </a:r>
            <a:endParaRPr/>
          </a:p>
        </p:txBody>
      </p:sp>
      <p:cxnSp>
        <p:nvCxnSpPr>
          <p:cNvPr id="411" name="Google Shape;411;p24"/>
          <p:cNvCxnSpPr/>
          <p:nvPr/>
        </p:nvCxnSpPr>
        <p:spPr>
          <a:xfrm>
            <a:off x="23012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412" name="Google Shape;412;p24"/>
          <p:cNvCxnSpPr/>
          <p:nvPr/>
        </p:nvCxnSpPr>
        <p:spPr>
          <a:xfrm>
            <a:off x="41300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413" name="Google Shape;413;p24"/>
          <p:cNvCxnSpPr/>
          <p:nvPr/>
        </p:nvCxnSpPr>
        <p:spPr>
          <a:xfrm>
            <a:off x="59588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414" name="Google Shape;414;p24"/>
          <p:cNvCxnSpPr/>
          <p:nvPr/>
        </p:nvCxnSpPr>
        <p:spPr>
          <a:xfrm>
            <a:off x="77876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415" name="Google Shape;415;p24"/>
          <p:cNvCxnSpPr/>
          <p:nvPr/>
        </p:nvCxnSpPr>
        <p:spPr>
          <a:xfrm>
            <a:off x="9616440" y="3943350"/>
            <a:ext cx="274320" cy="0"/>
          </a:xfrm>
          <a:prstGeom prst="straightConnector1">
            <a:avLst/>
          </a:prstGeom>
          <a:noFill/>
          <a:ln cap="flat" cmpd="sng" w="15875">
            <a:solidFill>
              <a:srgbClr val="080808"/>
            </a:solidFill>
            <a:prstDash val="solid"/>
            <a:miter lim="800000"/>
            <a:headEnd len="sm" w="sm"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5"/>
          <p:cNvSpPr txBox="1"/>
          <p:nvPr>
            <p:ph type="ctrTitle"/>
          </p:nvPr>
        </p:nvSpPr>
        <p:spPr>
          <a:xfrm>
            <a:off x="581929" y="503000"/>
            <a:ext cx="10941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latin typeface="Geist"/>
                <a:ea typeface="Geist"/>
                <a:cs typeface="Geist"/>
                <a:sym typeface="Geist"/>
              </a:rPr>
              <a:t>Perché iniettare ora e meteo</a:t>
            </a:r>
            <a:endParaRPr/>
          </a:p>
        </p:txBody>
      </p:sp>
      <p:sp>
        <p:nvSpPr>
          <p:cNvPr id="421" name="Google Shape;421;p25"/>
          <p:cNvSpPr txBox="1"/>
          <p:nvPr>
            <p:ph idx="1" type="body"/>
          </p:nvPr>
        </p:nvSpPr>
        <p:spPr>
          <a:xfrm>
            <a:off x="519600" y="1415300"/>
            <a:ext cx="11152800" cy="1936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it-IT" sz="2600"/>
              <a:t>Alle 23 sotto la pioggia consiglio diverso che a mezzogiorno col sole: l'agente lo sa.</a:t>
            </a:r>
            <a:endParaRPr/>
          </a:p>
        </p:txBody>
      </p:sp>
      <p:sp>
        <p:nvSpPr>
          <p:cNvPr id="422" name="Google Shape;422;p25"/>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23" name="Google Shape;423;p25"/>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24" name="Google Shape;424;p25"/>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cartoon of a girl holding an umbrella and a totoro in the rain (Provided by Tenor)" id="425" name="Google Shape;425;p25"/>
          <p:cNvPicPr preferRelativeResize="0"/>
          <p:nvPr/>
        </p:nvPicPr>
        <p:blipFill>
          <a:blip r:embed="rId4">
            <a:alphaModFix/>
          </a:blip>
          <a:stretch>
            <a:fillRect/>
          </a:stretch>
        </p:blipFill>
        <p:spPr>
          <a:xfrm>
            <a:off x="1669600" y="3351500"/>
            <a:ext cx="4122677" cy="2698780"/>
          </a:xfrm>
          <a:prstGeom prst="rect">
            <a:avLst/>
          </a:prstGeom>
          <a:noFill/>
          <a:ln>
            <a:noFill/>
          </a:ln>
        </p:spPr>
      </p:pic>
      <p:pic>
        <p:nvPicPr>
          <p:cNvPr descr="Waiting for Summer (Provided by Tenor)" id="426" name="Google Shape;426;p25"/>
          <p:cNvPicPr preferRelativeResize="0"/>
          <p:nvPr/>
        </p:nvPicPr>
        <p:blipFill>
          <a:blip r:embed="rId5">
            <a:alphaModFix/>
          </a:blip>
          <a:stretch>
            <a:fillRect/>
          </a:stretch>
        </p:blipFill>
        <p:spPr>
          <a:xfrm>
            <a:off x="7238475" y="3351500"/>
            <a:ext cx="3125575" cy="2698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6"/>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32" name="Google Shape;432;p26"/>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33" name="Google Shape;433;p26"/>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434" name="Google Shape;434;p26"/>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Contesto Emotivo: ora che diventa mood</a:t>
            </a:r>
            <a:endParaRPr/>
          </a:p>
        </p:txBody>
      </p:sp>
      <p:sp>
        <p:nvSpPr>
          <p:cNvPr id="435" name="Google Shape;435;p26"/>
          <p:cNvSpPr txBox="1"/>
          <p:nvPr/>
        </p:nvSpPr>
        <p:spPr>
          <a:xfrm>
            <a:off x="457200" y="1282450"/>
            <a:ext cx="11277600" cy="4494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ora = now.hour</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giorno = now.weekday()  # 0 = lunedì</a:t>
            </a:r>
            <a:endParaRPr sz="2200"/>
          </a:p>
          <a:p>
            <a:pPr indent="0" lvl="0" marL="0" marR="0" rtl="0" algn="l">
              <a:spcBef>
                <a:spcPts val="0"/>
              </a:spcBef>
              <a:spcAft>
                <a:spcPts val="0"/>
              </a:spcAft>
              <a:buNone/>
            </a:pPr>
            <a:r>
              <a:t/>
            </a:r>
            <a:endParaRPr b="0" sz="2200">
              <a:solidFill>
                <a:schemeClr val="dk1"/>
              </a:solidFill>
              <a:latin typeface="Geist Mono"/>
              <a:ea typeface="Geist Mono"/>
              <a:cs typeface="Geist Mono"/>
              <a:sym typeface="Geist Mono"/>
            </a:endParaRPr>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if 12 &lt;= ora &lt; 15:</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    momento, mood = "pranzo veloce", "pratico e diretto"</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elif 18 &lt;= ora &lt; 20:</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    momento, mood = "aperitivo", "rilassato e curioso"</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elif ora &gt;= 23 or ora &lt; 2:</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    momento, mood = "notte fonda", "comfort food, niente fronzoli"</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else: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    momento, mood = "fuori pasto", "leggero, suggerisci uno snack"</a:t>
            </a:r>
            <a:endParaRPr sz="2200"/>
          </a:p>
          <a:p>
            <a:pPr indent="0" lvl="0" marL="0" marR="0" rtl="0" algn="l">
              <a:spcBef>
                <a:spcPts val="0"/>
              </a:spcBef>
              <a:spcAft>
                <a:spcPts val="0"/>
              </a:spcAft>
              <a:buNone/>
            </a:pPr>
            <a:r>
              <a:t/>
            </a:r>
            <a:endParaRPr b="0" sz="2200">
              <a:solidFill>
                <a:schemeClr val="dk1"/>
              </a:solidFill>
              <a:latin typeface="Geist Mono"/>
              <a:ea typeface="Geist Mono"/>
              <a:cs typeface="Geist Mono"/>
              <a:sym typeface="Geist Mono"/>
            </a:endParaRPr>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return [{"momento": momento, "mood": mood}]</a:t>
            </a:r>
            <a:endParaRPr sz="2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fd4779c472_4_438"/>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Modelli Single-Call</a:t>
            </a:r>
            <a:endParaRPr sz="4000">
              <a:solidFill>
                <a:schemeClr val="dk1"/>
              </a:solidFill>
              <a:latin typeface="Montserrat"/>
              <a:ea typeface="Montserrat"/>
              <a:cs typeface="Montserrat"/>
              <a:sym typeface="Montserrat"/>
            </a:endParaRPr>
          </a:p>
        </p:txBody>
      </p:sp>
      <p:sp>
        <p:nvSpPr>
          <p:cNvPr id="442" name="Google Shape;442;g3fd4779c472_4_438"/>
          <p:cNvSpPr txBox="1"/>
          <p:nvPr>
            <p:ph idx="1" type="body"/>
          </p:nvPr>
        </p:nvSpPr>
        <p:spPr>
          <a:xfrm>
            <a:off x="581925" y="1477900"/>
            <a:ext cx="10996800" cy="38565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0"/>
              </a:spcBef>
              <a:spcAft>
                <a:spcPts val="0"/>
              </a:spcAft>
              <a:buClr>
                <a:srgbClr val="000000"/>
              </a:buClr>
              <a:buSzPts val="2200"/>
              <a:buFont typeface="Arial"/>
              <a:buChar char="●"/>
            </a:pPr>
            <a:r>
              <a:rPr lang="it-IT" sz="2200">
                <a:solidFill>
                  <a:srgbClr val="000000"/>
                </a:solidFill>
                <a:latin typeface="Arial"/>
                <a:ea typeface="Arial"/>
                <a:cs typeface="Arial"/>
                <a:sym typeface="Arial"/>
              </a:rPr>
              <a:t>Un'esecuzione diretta del modello per una </a:t>
            </a:r>
            <a:r>
              <a:rPr i="1" lang="it-IT" sz="2200">
                <a:solidFill>
                  <a:srgbClr val="000000"/>
                </a:solidFill>
                <a:latin typeface="Arial"/>
                <a:ea typeface="Arial"/>
                <a:cs typeface="Arial"/>
                <a:sym typeface="Arial"/>
              </a:rPr>
              <a:t>singola</a:t>
            </a:r>
            <a:r>
              <a:rPr lang="it-IT" sz="2200">
                <a:solidFill>
                  <a:srgbClr val="000000"/>
                </a:solidFill>
                <a:latin typeface="Arial"/>
                <a:ea typeface="Arial"/>
                <a:cs typeface="Arial"/>
                <a:sym typeface="Arial"/>
              </a:rPr>
              <a:t> task ben definita.</a:t>
            </a:r>
            <a:br>
              <a:rPr lang="it-IT" sz="2200">
                <a:solidFill>
                  <a:srgbClr val="000000"/>
                </a:solidFill>
                <a:latin typeface="Arial"/>
                <a:ea typeface="Arial"/>
                <a:cs typeface="Arial"/>
                <a:sym typeface="Arial"/>
              </a:rPr>
            </a:br>
            <a:endParaRPr sz="2200">
              <a:solidFill>
                <a:srgbClr val="000000"/>
              </a:solidFill>
              <a:latin typeface="Arial"/>
              <a:ea typeface="Arial"/>
              <a:cs typeface="Arial"/>
              <a:sym typeface="Arial"/>
            </a:endParaRPr>
          </a:p>
          <a:p>
            <a:pPr indent="-368300" lvl="0" marL="457200" rtl="0" algn="l">
              <a:lnSpc>
                <a:spcPct val="115000"/>
              </a:lnSpc>
              <a:spcBef>
                <a:spcPts val="0"/>
              </a:spcBef>
              <a:spcAft>
                <a:spcPts val="0"/>
              </a:spcAft>
              <a:buClr>
                <a:srgbClr val="000000"/>
              </a:buClr>
              <a:buSzPts val="2200"/>
              <a:buFont typeface="Arial"/>
              <a:buChar char="●"/>
            </a:pPr>
            <a:r>
              <a:rPr b="1" lang="it-IT" sz="2200">
                <a:solidFill>
                  <a:srgbClr val="000000"/>
                </a:solidFill>
                <a:latin typeface="Arial"/>
                <a:ea typeface="Arial"/>
                <a:cs typeface="Arial"/>
                <a:sym typeface="Arial"/>
              </a:rPr>
              <a:t>Input:</a:t>
            </a:r>
            <a:r>
              <a:rPr lang="it-IT" sz="2200">
                <a:solidFill>
                  <a:srgbClr val="000000"/>
                </a:solidFill>
                <a:latin typeface="Arial"/>
                <a:ea typeface="Arial"/>
                <a:cs typeface="Arial"/>
                <a:sym typeface="Arial"/>
              </a:rPr>
              <a:t> Un prompt specifico (la richiesta) e i dati di contesto (es. il testo da riassumere).</a:t>
            </a:r>
            <a:br>
              <a:rPr lang="it-IT" sz="2200">
                <a:solidFill>
                  <a:srgbClr val="000000"/>
                </a:solidFill>
                <a:latin typeface="Arial"/>
                <a:ea typeface="Arial"/>
                <a:cs typeface="Arial"/>
                <a:sym typeface="Arial"/>
              </a:rPr>
            </a:br>
            <a:endParaRPr sz="2200">
              <a:solidFill>
                <a:srgbClr val="000000"/>
              </a:solidFill>
              <a:latin typeface="Arial"/>
              <a:ea typeface="Arial"/>
              <a:cs typeface="Arial"/>
              <a:sym typeface="Arial"/>
            </a:endParaRPr>
          </a:p>
          <a:p>
            <a:pPr indent="-368300" lvl="0" marL="457200" rtl="0" algn="l">
              <a:lnSpc>
                <a:spcPct val="115000"/>
              </a:lnSpc>
              <a:spcBef>
                <a:spcPts val="0"/>
              </a:spcBef>
              <a:spcAft>
                <a:spcPts val="0"/>
              </a:spcAft>
              <a:buClr>
                <a:srgbClr val="000000"/>
              </a:buClr>
              <a:buSzPts val="2200"/>
              <a:buFont typeface="Arial"/>
              <a:buChar char="●"/>
            </a:pPr>
            <a:r>
              <a:rPr b="1" lang="it-IT" sz="2200">
                <a:solidFill>
                  <a:srgbClr val="000000"/>
                </a:solidFill>
                <a:latin typeface="Arial"/>
                <a:ea typeface="Arial"/>
                <a:cs typeface="Arial"/>
                <a:sym typeface="Arial"/>
              </a:rPr>
              <a:t>Output:</a:t>
            </a:r>
            <a:r>
              <a:rPr lang="it-IT" sz="2200">
                <a:solidFill>
                  <a:srgbClr val="000000"/>
                </a:solidFill>
                <a:latin typeface="Arial"/>
                <a:ea typeface="Arial"/>
                <a:cs typeface="Arial"/>
                <a:sym typeface="Arial"/>
              </a:rPr>
              <a:t> Un testo generato (riassunto, traduzione, descrizione) o una classificazione.</a:t>
            </a:r>
            <a:endParaRPr sz="2200">
              <a:solidFill>
                <a:srgbClr val="000000"/>
              </a:solidFill>
              <a:latin typeface="Arial"/>
              <a:ea typeface="Arial"/>
              <a:cs typeface="Arial"/>
              <a:sym typeface="Arial"/>
            </a:endParaRPr>
          </a:p>
          <a:p>
            <a:pPr indent="0" lvl="0" marL="0" rtl="0" algn="l">
              <a:lnSpc>
                <a:spcPct val="115000"/>
              </a:lnSpc>
              <a:spcBef>
                <a:spcPts val="0"/>
              </a:spcBef>
              <a:spcAft>
                <a:spcPts val="0"/>
              </a:spcAft>
              <a:buSzPts val="2000"/>
              <a:buNone/>
            </a:pPr>
            <a:r>
              <a:t/>
            </a:r>
            <a:endParaRPr sz="2200">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fd4779c472_4_444"/>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Modelli Single-Call</a:t>
            </a:r>
            <a:endParaRPr sz="4000">
              <a:solidFill>
                <a:schemeClr val="dk1"/>
              </a:solidFill>
              <a:latin typeface="Montserrat"/>
              <a:ea typeface="Montserrat"/>
              <a:cs typeface="Montserrat"/>
              <a:sym typeface="Montserrat"/>
            </a:endParaRPr>
          </a:p>
        </p:txBody>
      </p:sp>
      <p:sp>
        <p:nvSpPr>
          <p:cNvPr id="449" name="Google Shape;449;g3fd4779c472_4_444"/>
          <p:cNvSpPr txBox="1"/>
          <p:nvPr>
            <p:ph idx="1" type="body"/>
          </p:nvPr>
        </p:nvSpPr>
        <p:spPr>
          <a:xfrm>
            <a:off x="581925" y="1477900"/>
            <a:ext cx="10996800" cy="3856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2000"/>
              <a:buNone/>
            </a:pPr>
            <a:r>
              <a:rPr b="1" lang="it-IT">
                <a:solidFill>
                  <a:srgbClr val="000000"/>
                </a:solidFill>
                <a:latin typeface="Arial"/>
                <a:ea typeface="Arial"/>
                <a:cs typeface="Arial"/>
                <a:sym typeface="Arial"/>
              </a:rPr>
              <a:t>Limiti principali:</a:t>
            </a:r>
            <a:endParaRPr b="1">
              <a:solidFill>
                <a:srgbClr val="000000"/>
              </a:solidFill>
              <a:latin typeface="Arial"/>
              <a:ea typeface="Arial"/>
              <a:cs typeface="Arial"/>
              <a:sym typeface="Arial"/>
            </a:endParaRPr>
          </a:p>
          <a:p>
            <a:pPr indent="-355600" lvl="0" marL="457200" rtl="0" algn="l">
              <a:lnSpc>
                <a:spcPct val="115000"/>
              </a:lnSpc>
              <a:spcBef>
                <a:spcPts val="1200"/>
              </a:spcBef>
              <a:spcAft>
                <a:spcPts val="0"/>
              </a:spcAft>
              <a:buClr>
                <a:srgbClr val="000000"/>
              </a:buClr>
              <a:buSzPts val="2000"/>
              <a:buFont typeface="Arial"/>
              <a:buChar char="●"/>
            </a:pPr>
            <a:r>
              <a:rPr b="1" lang="it-IT">
                <a:solidFill>
                  <a:srgbClr val="000000"/>
                </a:solidFill>
                <a:latin typeface="Arial"/>
                <a:ea typeface="Arial"/>
                <a:cs typeface="Arial"/>
                <a:sym typeface="Arial"/>
              </a:rPr>
              <a:t>Non ha memoria:</a:t>
            </a:r>
            <a:r>
              <a:rPr lang="it-IT">
                <a:solidFill>
                  <a:srgbClr val="000000"/>
                </a:solidFill>
                <a:latin typeface="Arial"/>
                <a:ea typeface="Arial"/>
                <a:cs typeface="Arial"/>
                <a:sym typeface="Arial"/>
              </a:rPr>
              <a:t> Non ricorda le interazioni precedenti (a meno che tu non la fornisca nel prompt).</a:t>
            </a:r>
            <a:br>
              <a:rPr lang="it-IT">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b="1" lang="it-IT">
                <a:solidFill>
                  <a:srgbClr val="000000"/>
                </a:solidFill>
                <a:latin typeface="Arial"/>
                <a:ea typeface="Arial"/>
                <a:cs typeface="Arial"/>
                <a:sym typeface="Arial"/>
              </a:rPr>
              <a:t>Non agisce:</a:t>
            </a:r>
            <a:r>
              <a:rPr lang="it-IT">
                <a:solidFill>
                  <a:srgbClr val="000000"/>
                </a:solidFill>
                <a:latin typeface="Arial"/>
                <a:ea typeface="Arial"/>
                <a:cs typeface="Arial"/>
                <a:sym typeface="Arial"/>
              </a:rPr>
              <a:t> Non può cercare informazioni su internet, inviare email o aggiornare un database da solo.</a:t>
            </a:r>
            <a:endParaRPr>
              <a:solidFill>
                <a:srgbClr val="000000"/>
              </a:solidFill>
              <a:latin typeface="Arial"/>
              <a:ea typeface="Arial"/>
              <a:cs typeface="Arial"/>
              <a:sym typeface="Arial"/>
            </a:endParaRPr>
          </a:p>
          <a:p>
            <a:pPr indent="0" lvl="0" marL="0" rtl="0" algn="l">
              <a:lnSpc>
                <a:spcPct val="115000"/>
              </a:lnSpc>
              <a:spcBef>
                <a:spcPts val="1200"/>
              </a:spcBef>
              <a:spcAft>
                <a:spcPts val="0"/>
              </a:spcAft>
              <a:buSzPts val="2000"/>
              <a:buNone/>
            </a:pPr>
            <a:r>
              <a:rPr b="1" lang="it-IT">
                <a:solidFill>
                  <a:srgbClr val="000000"/>
                </a:solidFill>
                <a:latin typeface="Arial"/>
                <a:ea typeface="Arial"/>
                <a:cs typeface="Arial"/>
                <a:sym typeface="Arial"/>
              </a:rPr>
              <a:t>Ruolo nel Workflow:</a:t>
            </a:r>
            <a:r>
              <a:rPr lang="it-IT">
                <a:solidFill>
                  <a:srgbClr val="000000"/>
                </a:solidFill>
                <a:latin typeface="Arial"/>
                <a:ea typeface="Arial"/>
                <a:cs typeface="Arial"/>
                <a:sym typeface="Arial"/>
              </a:rPr>
              <a:t> È un </a:t>
            </a:r>
            <a:r>
              <a:rPr b="1" lang="it-IT">
                <a:solidFill>
                  <a:srgbClr val="000000"/>
                </a:solidFill>
                <a:latin typeface="Arial"/>
                <a:ea typeface="Arial"/>
                <a:cs typeface="Arial"/>
                <a:sym typeface="Arial"/>
              </a:rPr>
              <a:t>passo di trasformazione dati</a:t>
            </a:r>
            <a:r>
              <a:rPr lang="it-IT">
                <a:solidFill>
                  <a:srgbClr val="000000"/>
                </a:solidFill>
                <a:latin typeface="Arial"/>
                <a:ea typeface="Arial"/>
                <a:cs typeface="Arial"/>
                <a:sym typeface="Arial"/>
              </a:rPr>
              <a:t>, come un nodo </a:t>
            </a:r>
            <a:r>
              <a:rPr lang="it-IT">
                <a:solidFill>
                  <a:srgbClr val="188038"/>
                </a:solidFill>
                <a:latin typeface="Roboto Mono"/>
                <a:ea typeface="Roboto Mono"/>
                <a:cs typeface="Roboto Mono"/>
                <a:sym typeface="Roboto Mono"/>
              </a:rPr>
              <a:t>Code</a:t>
            </a:r>
            <a:r>
              <a:rPr lang="it-IT">
                <a:solidFill>
                  <a:srgbClr val="000000"/>
                </a:solidFill>
                <a:latin typeface="Arial"/>
                <a:ea typeface="Arial"/>
                <a:cs typeface="Arial"/>
                <a:sym typeface="Arial"/>
              </a:rPr>
              <a:t> o </a:t>
            </a:r>
            <a:r>
              <a:rPr lang="it-IT">
                <a:solidFill>
                  <a:srgbClr val="188038"/>
                </a:solidFill>
                <a:latin typeface="Roboto Mono"/>
                <a:ea typeface="Roboto Mono"/>
                <a:cs typeface="Roboto Mono"/>
                <a:sym typeface="Roboto Mono"/>
              </a:rPr>
              <a:t>Set</a:t>
            </a:r>
            <a:r>
              <a:rPr lang="it-IT">
                <a:solidFill>
                  <a:srgbClr val="000000"/>
                </a:solidFill>
                <a:latin typeface="Arial"/>
                <a:ea typeface="Arial"/>
                <a:cs typeface="Arial"/>
                <a:sym typeface="Arial"/>
              </a:rPr>
              <a:t>, ma con capacità generativa.</a:t>
            </a:r>
            <a:endParaRPr>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fd4779c472_4_450"/>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Modelli Single-Call</a:t>
            </a:r>
            <a:endParaRPr sz="4000">
              <a:solidFill>
                <a:schemeClr val="dk1"/>
              </a:solidFill>
              <a:latin typeface="Montserrat"/>
              <a:ea typeface="Montserrat"/>
              <a:cs typeface="Montserrat"/>
              <a:sym typeface="Montserrat"/>
            </a:endParaRPr>
          </a:p>
        </p:txBody>
      </p:sp>
      <p:pic>
        <p:nvPicPr>
          <p:cNvPr id="456" name="Google Shape;456;g3fd4779c472_4_450"/>
          <p:cNvPicPr preferRelativeResize="0"/>
          <p:nvPr/>
        </p:nvPicPr>
        <p:blipFill rotWithShape="1">
          <a:blip r:embed="rId3">
            <a:alphaModFix/>
          </a:blip>
          <a:srcRect b="0" l="0" r="0" t="0"/>
          <a:stretch/>
        </p:blipFill>
        <p:spPr>
          <a:xfrm>
            <a:off x="953500" y="1785513"/>
            <a:ext cx="10285000" cy="38217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fd4779c472_4_456"/>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AI Agent</a:t>
            </a:r>
            <a:endParaRPr sz="4000">
              <a:solidFill>
                <a:schemeClr val="dk1"/>
              </a:solidFill>
              <a:latin typeface="Montserrat"/>
              <a:ea typeface="Montserrat"/>
              <a:cs typeface="Montserrat"/>
              <a:sym typeface="Montserrat"/>
            </a:endParaRPr>
          </a:p>
        </p:txBody>
      </p:sp>
      <p:sp>
        <p:nvSpPr>
          <p:cNvPr id="463" name="Google Shape;463;g3fd4779c472_4_456"/>
          <p:cNvSpPr txBox="1"/>
          <p:nvPr>
            <p:ph idx="1" type="body"/>
          </p:nvPr>
        </p:nvSpPr>
        <p:spPr>
          <a:xfrm>
            <a:off x="581925" y="1477900"/>
            <a:ext cx="10996800" cy="3856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2000"/>
              <a:buNone/>
            </a:pPr>
            <a:r>
              <a:rPr lang="it-IT">
                <a:solidFill>
                  <a:srgbClr val="000000"/>
                </a:solidFill>
                <a:latin typeface="Arial"/>
                <a:ea typeface="Arial"/>
                <a:cs typeface="Arial"/>
                <a:sym typeface="Arial"/>
              </a:rPr>
              <a:t>Un AI Agent è un sistema che utilizza un LLM per la </a:t>
            </a:r>
            <a:r>
              <a:rPr b="1" lang="it-IT">
                <a:solidFill>
                  <a:srgbClr val="000000"/>
                </a:solidFill>
                <a:latin typeface="Arial"/>
                <a:ea typeface="Arial"/>
                <a:cs typeface="Arial"/>
                <a:sym typeface="Arial"/>
              </a:rPr>
              <a:t>ragione</a:t>
            </a:r>
            <a:r>
              <a:rPr lang="it-IT">
                <a:solidFill>
                  <a:srgbClr val="000000"/>
                </a:solidFill>
                <a:latin typeface="Arial"/>
                <a:ea typeface="Arial"/>
                <a:cs typeface="Arial"/>
                <a:sym typeface="Arial"/>
              </a:rPr>
              <a:t> e il </a:t>
            </a:r>
            <a:r>
              <a:rPr b="1" lang="it-IT">
                <a:solidFill>
                  <a:srgbClr val="000000"/>
                </a:solidFill>
                <a:latin typeface="Arial"/>
                <a:ea typeface="Arial"/>
                <a:cs typeface="Arial"/>
                <a:sym typeface="Arial"/>
              </a:rPr>
              <a:t>processo decisionale</a:t>
            </a:r>
            <a:r>
              <a:rPr lang="it-IT">
                <a:solidFill>
                  <a:srgbClr val="000000"/>
                </a:solidFill>
                <a:latin typeface="Arial"/>
                <a:ea typeface="Arial"/>
                <a:cs typeface="Arial"/>
                <a:sym typeface="Arial"/>
              </a:rPr>
              <a:t>. Deciderà, passo dopo passo, la sequenza di azioni necessarie per completare un obiettivo.</a:t>
            </a:r>
            <a:endParaRPr>
              <a:solidFill>
                <a:srgbClr val="000000"/>
              </a:solidFill>
              <a:latin typeface="Arial"/>
              <a:ea typeface="Arial"/>
              <a:cs typeface="Arial"/>
              <a:sym typeface="Arial"/>
            </a:endParaRPr>
          </a:p>
          <a:p>
            <a:pPr indent="0" lvl="0" marL="0" rtl="0" algn="l">
              <a:lnSpc>
                <a:spcPct val="115000"/>
              </a:lnSpc>
              <a:spcBef>
                <a:spcPts val="1200"/>
              </a:spcBef>
              <a:spcAft>
                <a:spcPts val="0"/>
              </a:spcAft>
              <a:buSzPts val="2000"/>
              <a:buNone/>
            </a:pPr>
            <a:r>
              <a:rPr b="1" lang="it-IT">
                <a:solidFill>
                  <a:srgbClr val="000000"/>
                </a:solidFill>
                <a:latin typeface="Arial"/>
                <a:ea typeface="Arial"/>
                <a:cs typeface="Arial"/>
                <a:sym typeface="Arial"/>
              </a:rPr>
              <a:t>Il processo:</a:t>
            </a:r>
            <a:endParaRPr b="1">
              <a:solidFill>
                <a:srgbClr val="000000"/>
              </a:solidFill>
              <a:latin typeface="Arial"/>
              <a:ea typeface="Arial"/>
              <a:cs typeface="Arial"/>
              <a:sym typeface="Arial"/>
            </a:endParaRPr>
          </a:p>
          <a:p>
            <a:pPr indent="-355600" lvl="0" marL="457200" rtl="0" algn="l">
              <a:lnSpc>
                <a:spcPct val="115000"/>
              </a:lnSpc>
              <a:spcBef>
                <a:spcPts val="120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Riceve l'</a:t>
            </a:r>
            <a:r>
              <a:rPr b="1" lang="it-IT">
                <a:solidFill>
                  <a:srgbClr val="000000"/>
                </a:solidFill>
                <a:latin typeface="Arial"/>
                <a:ea typeface="Arial"/>
                <a:cs typeface="Arial"/>
                <a:sym typeface="Arial"/>
              </a:rPr>
              <a:t>obiettivo</a:t>
            </a:r>
            <a:r>
              <a:rPr lang="it-IT">
                <a:solidFill>
                  <a:srgbClr val="000000"/>
                </a:solidFill>
                <a:latin typeface="Arial"/>
                <a:ea typeface="Arial"/>
                <a:cs typeface="Arial"/>
                <a:sym typeface="Arial"/>
              </a:rPr>
              <a:t> (Goal).</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Analizza l'obiettivo e decide se e quali </a:t>
            </a:r>
            <a:r>
              <a:rPr b="1" lang="it-IT">
                <a:solidFill>
                  <a:srgbClr val="000000"/>
                </a:solidFill>
                <a:latin typeface="Arial"/>
                <a:ea typeface="Arial"/>
                <a:cs typeface="Arial"/>
                <a:sym typeface="Arial"/>
              </a:rPr>
              <a:t>Strumenti (Tools)</a:t>
            </a:r>
            <a:r>
              <a:rPr lang="it-IT">
                <a:solidFill>
                  <a:srgbClr val="000000"/>
                </a:solidFill>
                <a:latin typeface="Arial"/>
                <a:ea typeface="Arial"/>
                <a:cs typeface="Arial"/>
                <a:sym typeface="Arial"/>
              </a:rPr>
              <a:t> utilizzare.</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Possiede una memoria.</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Esegue lo strumento (es. cerca sul Web).</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Valuta il risultato dello strumento.</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Ripete il ciclo finché l'obiettivo non è completato o raggiunge il limite.</a:t>
            </a:r>
            <a:endParaRPr>
              <a:solidFill>
                <a:srgbClr val="000000"/>
              </a:solidFill>
              <a:latin typeface="Arial"/>
              <a:ea typeface="Arial"/>
              <a:cs typeface="Arial"/>
              <a:sym typeface="Arial"/>
            </a:endParaRPr>
          </a:p>
          <a:p>
            <a:pPr indent="0" lvl="0" marL="0" rtl="0" algn="l">
              <a:lnSpc>
                <a:spcPct val="115000"/>
              </a:lnSpc>
              <a:spcBef>
                <a:spcPts val="1200"/>
              </a:spcBef>
              <a:spcAft>
                <a:spcPts val="0"/>
              </a:spcAft>
              <a:buSzPts val="2000"/>
              <a:buNone/>
            </a:pPr>
            <a:r>
              <a:t/>
            </a:r>
            <a:endParaRPr>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fd4779c472_4_462"/>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Tools</a:t>
            </a:r>
            <a:endParaRPr sz="4000">
              <a:solidFill>
                <a:schemeClr val="dk1"/>
              </a:solidFill>
              <a:latin typeface="Montserrat"/>
              <a:ea typeface="Montserrat"/>
              <a:cs typeface="Montserrat"/>
              <a:sym typeface="Montserrat"/>
            </a:endParaRPr>
          </a:p>
        </p:txBody>
      </p:sp>
      <p:sp>
        <p:nvSpPr>
          <p:cNvPr id="470" name="Google Shape;470;g3fd4779c472_4_462"/>
          <p:cNvSpPr txBox="1"/>
          <p:nvPr>
            <p:ph idx="1" type="body"/>
          </p:nvPr>
        </p:nvSpPr>
        <p:spPr>
          <a:xfrm>
            <a:off x="581925" y="1477900"/>
            <a:ext cx="10996800" cy="3856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2000"/>
              <a:buNone/>
            </a:pPr>
            <a:r>
              <a:rPr lang="it-IT">
                <a:solidFill>
                  <a:srgbClr val="000000"/>
                </a:solidFill>
                <a:latin typeface="Arial"/>
                <a:ea typeface="Arial"/>
                <a:cs typeface="Arial"/>
                <a:sym typeface="Arial"/>
              </a:rPr>
              <a:t>Gli Strumenti sono le </a:t>
            </a:r>
            <a:r>
              <a:rPr b="1" lang="it-IT">
                <a:solidFill>
                  <a:srgbClr val="000000"/>
                </a:solidFill>
                <a:latin typeface="Arial"/>
                <a:ea typeface="Arial"/>
                <a:cs typeface="Arial"/>
                <a:sym typeface="Arial"/>
              </a:rPr>
              <a:t>funzioni esterne</a:t>
            </a:r>
            <a:r>
              <a:rPr lang="it-IT">
                <a:solidFill>
                  <a:srgbClr val="000000"/>
                </a:solidFill>
                <a:latin typeface="Arial"/>
                <a:ea typeface="Arial"/>
                <a:cs typeface="Arial"/>
                <a:sym typeface="Arial"/>
              </a:rPr>
              <a:t> che l'Agent può invocare. Sono le "API" che l'LLM decide di chiamare in autonomia.</a:t>
            </a:r>
            <a:endParaRPr>
              <a:solidFill>
                <a:srgbClr val="000000"/>
              </a:solidFill>
              <a:latin typeface="Arial"/>
              <a:ea typeface="Arial"/>
              <a:cs typeface="Arial"/>
              <a:sym typeface="Arial"/>
            </a:endParaRPr>
          </a:p>
          <a:p>
            <a:pPr indent="0" lvl="0" marL="0" rtl="0" algn="l">
              <a:lnSpc>
                <a:spcPct val="115000"/>
              </a:lnSpc>
              <a:spcBef>
                <a:spcPts val="1200"/>
              </a:spcBef>
              <a:spcAft>
                <a:spcPts val="0"/>
              </a:spcAft>
              <a:buSzPts val="2000"/>
              <a:buNone/>
            </a:pPr>
            <a:r>
              <a:rPr b="1" lang="it-IT">
                <a:solidFill>
                  <a:srgbClr val="000000"/>
                </a:solidFill>
                <a:latin typeface="Arial"/>
                <a:ea typeface="Arial"/>
                <a:cs typeface="Arial"/>
                <a:sym typeface="Arial"/>
              </a:rPr>
              <a:t>Esempi di Tools in n8n:</a:t>
            </a:r>
            <a:endParaRPr b="1">
              <a:solidFill>
                <a:srgbClr val="000000"/>
              </a:solidFill>
              <a:latin typeface="Arial"/>
              <a:ea typeface="Arial"/>
              <a:cs typeface="Arial"/>
              <a:sym typeface="Arial"/>
            </a:endParaRPr>
          </a:p>
          <a:p>
            <a:pPr indent="-355600" lvl="0" marL="457200" rtl="0" algn="l">
              <a:lnSpc>
                <a:spcPct val="115000"/>
              </a:lnSpc>
              <a:spcBef>
                <a:spcPts val="1200"/>
              </a:spcBef>
              <a:spcAft>
                <a:spcPts val="0"/>
              </a:spcAft>
              <a:buClr>
                <a:srgbClr val="000000"/>
              </a:buClr>
              <a:buSzPts val="2000"/>
              <a:buFont typeface="Arial"/>
              <a:buChar char="●"/>
            </a:pPr>
            <a:r>
              <a:rPr b="1" lang="it-IT">
                <a:solidFill>
                  <a:srgbClr val="000000"/>
                </a:solidFill>
                <a:latin typeface="Arial"/>
                <a:ea typeface="Arial"/>
                <a:cs typeface="Arial"/>
                <a:sym typeface="Arial"/>
              </a:rPr>
              <a:t>Web Search:</a:t>
            </a:r>
            <a:r>
              <a:rPr lang="it-IT">
                <a:solidFill>
                  <a:srgbClr val="000000"/>
                </a:solidFill>
                <a:latin typeface="Arial"/>
                <a:ea typeface="Arial"/>
                <a:cs typeface="Arial"/>
                <a:sym typeface="Arial"/>
              </a:rPr>
              <a:t> Ricercare informazioni aggiornate online.</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b="1" lang="it-IT">
                <a:solidFill>
                  <a:srgbClr val="000000"/>
                </a:solidFill>
                <a:latin typeface="Arial"/>
                <a:ea typeface="Arial"/>
                <a:cs typeface="Arial"/>
                <a:sym typeface="Arial"/>
              </a:rPr>
              <a:t>API/HTTP Request:</a:t>
            </a:r>
            <a:r>
              <a:rPr lang="it-IT">
                <a:solidFill>
                  <a:srgbClr val="000000"/>
                </a:solidFill>
                <a:latin typeface="Arial"/>
                <a:ea typeface="Arial"/>
                <a:cs typeface="Arial"/>
                <a:sym typeface="Arial"/>
              </a:rPr>
              <a:t> Interagire con sistemi esterni (es. CRM, Database).</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b="1" lang="it-IT">
                <a:solidFill>
                  <a:srgbClr val="000000"/>
                </a:solidFill>
                <a:latin typeface="Arial"/>
                <a:ea typeface="Arial"/>
                <a:cs typeface="Arial"/>
                <a:sym typeface="Arial"/>
              </a:rPr>
              <a:t>Code Execution:</a:t>
            </a:r>
            <a:r>
              <a:rPr lang="it-IT">
                <a:solidFill>
                  <a:srgbClr val="000000"/>
                </a:solidFill>
                <a:latin typeface="Arial"/>
                <a:ea typeface="Arial"/>
                <a:cs typeface="Arial"/>
                <a:sym typeface="Arial"/>
              </a:rPr>
              <a:t> Eseguire codice Python o JavaScript per calcoli complessi.</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b="1" lang="it-IT">
                <a:solidFill>
                  <a:srgbClr val="000000"/>
                </a:solidFill>
                <a:latin typeface="Arial"/>
                <a:ea typeface="Arial"/>
                <a:cs typeface="Arial"/>
                <a:sym typeface="Arial"/>
              </a:rPr>
              <a:t>Execute Workflow:</a:t>
            </a:r>
            <a:r>
              <a:rPr lang="it-IT">
                <a:solidFill>
                  <a:srgbClr val="000000"/>
                </a:solidFill>
                <a:latin typeface="Arial"/>
                <a:ea typeface="Arial"/>
                <a:cs typeface="Arial"/>
                <a:sym typeface="Arial"/>
              </a:rPr>
              <a:t> Richiamare un altro Sub-Workflow n8n come se fosse uno Strumento.</a:t>
            </a:r>
            <a:endParaRPr>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fd4779c472_4_468"/>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Single-Call Vs AI Agent</a:t>
            </a:r>
            <a:endParaRPr sz="4000">
              <a:solidFill>
                <a:schemeClr val="dk1"/>
              </a:solidFill>
              <a:latin typeface="Montserrat"/>
              <a:ea typeface="Montserrat"/>
              <a:cs typeface="Montserrat"/>
              <a:sym typeface="Montserrat"/>
            </a:endParaRPr>
          </a:p>
        </p:txBody>
      </p:sp>
      <p:graphicFrame>
        <p:nvGraphicFramePr>
          <p:cNvPr id="477" name="Google Shape;477;g3fd4779c472_4_468"/>
          <p:cNvGraphicFramePr/>
          <p:nvPr/>
        </p:nvGraphicFramePr>
        <p:xfrm>
          <a:off x="790088" y="1651525"/>
          <a:ext cx="3000000" cy="3000000"/>
        </p:xfrm>
        <a:graphic>
          <a:graphicData uri="http://schemas.openxmlformats.org/drawingml/2006/table">
            <a:tbl>
              <a:tblPr>
                <a:noFill/>
                <a:tableStyleId>{FF34824B-491D-4B71-B3F2-BC05F189CE2E}</a:tableStyleId>
              </a:tblPr>
              <a:tblGrid>
                <a:gridCol w="2577875"/>
                <a:gridCol w="2769750"/>
                <a:gridCol w="5264200"/>
              </a:tblGrid>
              <a:tr h="342900">
                <a:tc>
                  <a:txBody>
                    <a:bodyPr/>
                    <a:lstStyle/>
                    <a:p>
                      <a:pPr indent="0" lvl="0" marL="0" marR="0" rtl="0" algn="l">
                        <a:lnSpc>
                          <a:spcPct val="115000"/>
                        </a:lnSpc>
                        <a:spcBef>
                          <a:spcPts val="0"/>
                        </a:spcBef>
                        <a:spcAft>
                          <a:spcPts val="0"/>
                        </a:spcAft>
                        <a:buClr>
                          <a:srgbClr val="000000"/>
                        </a:buClr>
                        <a:buSzPts val="1800"/>
                        <a:buFont typeface="Arial"/>
                        <a:buNone/>
                      </a:pPr>
                      <a:r>
                        <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Modello Single-Call </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AI Agent </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r>
              <a:tr h="695325">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Obiettivo:</a:t>
                      </a:r>
                      <a:r>
                        <a:rPr lang="it-IT" sz="1800" u="none" cap="none" strike="noStrike">
                          <a:solidFill>
                            <a:srgbClr val="1B1C1D"/>
                          </a:solidFill>
                        </a:rPr>
                        <a:t> Ottenere la quotazione azionaria di Tesla, scrivere un breve riassunto e inviarlo.</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1. HTTP Request</a:t>
                      </a:r>
                      <a:r>
                        <a:rPr lang="it-IT" sz="1800" u="none" cap="none" strike="noStrike">
                          <a:solidFill>
                            <a:srgbClr val="1B1C1D"/>
                          </a:solidFill>
                        </a:rPr>
                        <a:t> (API Azioni) </a:t>
                      </a:r>
                      <a:r>
                        <a:rPr b="1" lang="it-IT" sz="1800" u="none" cap="none" strike="noStrike">
                          <a:solidFill>
                            <a:srgbClr val="1B1C1D"/>
                          </a:solidFill>
                        </a:rPr>
                        <a:t>2. LLM Node</a:t>
                      </a:r>
                      <a:r>
                        <a:rPr lang="it-IT" sz="1800" u="none" cap="none" strike="noStrike">
                          <a:solidFill>
                            <a:srgbClr val="1B1C1D"/>
                          </a:solidFill>
                        </a:rPr>
                        <a:t> (Riassunto) </a:t>
                      </a:r>
                      <a:r>
                        <a:rPr b="1" lang="it-IT" sz="1800" u="none" cap="none" strike="noStrike">
                          <a:solidFill>
                            <a:srgbClr val="1B1C1D"/>
                          </a:solidFill>
                        </a:rPr>
                        <a:t>3. Email Node</a:t>
                      </a:r>
                      <a:r>
                        <a:rPr lang="it-IT" sz="1800" u="none" cap="none" strike="noStrike">
                          <a:solidFill>
                            <a:srgbClr val="1B1C1D"/>
                          </a:solidFill>
                        </a:rPr>
                        <a:t> (Invio)</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1. Agent Node</a:t>
                      </a:r>
                      <a:r>
                        <a:rPr lang="it-IT" sz="1800" u="none" cap="none" strike="noStrike">
                          <a:solidFill>
                            <a:srgbClr val="1B1C1D"/>
                          </a:solidFill>
                        </a:rPr>
                        <a:t> (Riceve: "Invia un riassunto della quotazione Tesla") </a:t>
                      </a:r>
                      <a:r>
                        <a:rPr b="1" lang="it-IT" sz="1800" u="none" cap="none" strike="noStrike">
                          <a:solidFill>
                            <a:srgbClr val="1B1C1D"/>
                          </a:solidFill>
                        </a:rPr>
                        <a:t>2. L'Agent decide:</a:t>
                      </a:r>
                      <a:r>
                        <a:rPr lang="it-IT" sz="1800" u="none" cap="none" strike="noStrike">
                          <a:solidFill>
                            <a:srgbClr val="1B1C1D"/>
                          </a:solidFill>
                        </a:rPr>
                        <a:t> </a:t>
                      </a:r>
                      <a:r>
                        <a:rPr i="1" lang="it-IT" sz="1800" u="none" cap="none" strike="noStrike">
                          <a:solidFill>
                            <a:srgbClr val="1B1C1D"/>
                          </a:solidFill>
                        </a:rPr>
                        <a:t>a)</a:t>
                      </a:r>
                      <a:r>
                        <a:rPr lang="it-IT" sz="1800" u="none" cap="none" strike="noStrike">
                          <a:solidFill>
                            <a:srgbClr val="1B1C1D"/>
                          </a:solidFill>
                        </a:rPr>
                        <a:t> Usa </a:t>
                      </a:r>
                      <a:r>
                        <a:rPr lang="it-IT" sz="1800" u="none" cap="none" strike="noStrike">
                          <a:solidFill>
                            <a:srgbClr val="444746"/>
                          </a:solidFill>
                          <a:highlight>
                            <a:srgbClr val="E9EEF6"/>
                          </a:highlight>
                        </a:rPr>
                        <a:t>Stock Price Tool</a:t>
                      </a:r>
                      <a:r>
                        <a:rPr lang="it-IT" sz="1800" u="none" cap="none" strike="noStrike">
                          <a:solidFill>
                            <a:srgbClr val="1B1C1D"/>
                          </a:solidFill>
                        </a:rPr>
                        <a:t> (API) </a:t>
                      </a:r>
                      <a:r>
                        <a:rPr i="1" lang="it-IT" sz="1800" u="none" cap="none" strike="noStrike">
                          <a:solidFill>
                            <a:srgbClr val="1B1C1D"/>
                          </a:solidFill>
                        </a:rPr>
                        <a:t>b)</a:t>
                      </a:r>
                      <a:r>
                        <a:rPr lang="it-IT" sz="1800" u="none" cap="none" strike="noStrike">
                          <a:solidFill>
                            <a:srgbClr val="1B1C1D"/>
                          </a:solidFill>
                        </a:rPr>
                        <a:t> Usa la sua intelligenza per riassumere </a:t>
                      </a:r>
                      <a:r>
                        <a:rPr i="1" lang="it-IT" sz="1800" u="none" cap="none" strike="noStrike">
                          <a:solidFill>
                            <a:srgbClr val="1B1C1D"/>
                          </a:solidFill>
                        </a:rPr>
                        <a:t>c)</a:t>
                      </a:r>
                      <a:r>
                        <a:rPr lang="it-IT" sz="1800" u="none" cap="none" strike="noStrike">
                          <a:solidFill>
                            <a:srgbClr val="1B1C1D"/>
                          </a:solidFill>
                        </a:rPr>
                        <a:t> Usa </a:t>
                      </a:r>
                      <a:r>
                        <a:rPr lang="it-IT" sz="1800" u="none" cap="none" strike="noStrike">
                          <a:solidFill>
                            <a:srgbClr val="444746"/>
                          </a:solidFill>
                          <a:highlight>
                            <a:srgbClr val="E9EEF6"/>
                          </a:highlight>
                        </a:rPr>
                        <a:t>Email Tool</a:t>
                      </a:r>
                      <a:r>
                        <a:rPr lang="it-IT" sz="1800" u="none" cap="none" strike="noStrike">
                          <a:solidFill>
                            <a:srgbClr val="1B1C1D"/>
                          </a:solidFill>
                        </a:rPr>
                        <a:t> (Invia).</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Pianificazione:</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it-IT" sz="1800" u="none" cap="none" strike="noStrike">
                          <a:solidFill>
                            <a:srgbClr val="1B1C1D"/>
                          </a:solidFill>
                        </a:rPr>
                        <a:t>Fissa e definita dall'utente.</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it-IT" sz="1800" u="none" cap="none" strike="noStrike">
                          <a:solidFill>
                            <a:srgbClr val="1B1C1D"/>
                          </a:solidFill>
                        </a:rPr>
                        <a:t>Dinamica, decisa dall'AI.</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523875">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Flessibilità:</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it-IT" sz="1800" u="none" cap="none" strike="noStrike">
                          <a:solidFill>
                            <a:srgbClr val="1B1C1D"/>
                          </a:solidFill>
                        </a:rPr>
                        <a:t>Bassa. Se la API fallisce, il processo si interrompe.</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it-IT" sz="1800" u="none" cap="none" strike="noStrike">
                          <a:solidFill>
                            <a:srgbClr val="1B1C1D"/>
                          </a:solidFill>
                        </a:rPr>
                        <a:t>Alta. Può tentare strategie diverse (es. cercare su un altro sito se il primo fallisce).</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0"/>
          <p:cNvSpPr txBox="1"/>
          <p:nvPr>
            <p:ph type="ctrTitle"/>
          </p:nvPr>
        </p:nvSpPr>
        <p:spPr>
          <a:xfrm>
            <a:off x="581929" y="503000"/>
            <a:ext cx="108168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latin typeface="Geist"/>
                <a:ea typeface="Geist"/>
                <a:cs typeface="Geist"/>
                <a:sym typeface="Geist"/>
              </a:rPr>
              <a:t>Perché un umano nel mezzo</a:t>
            </a:r>
            <a:endParaRPr/>
          </a:p>
        </p:txBody>
      </p:sp>
      <p:sp>
        <p:nvSpPr>
          <p:cNvPr id="483" name="Google Shape;483;p30"/>
          <p:cNvSpPr txBox="1"/>
          <p:nvPr>
            <p:ph idx="1" type="body"/>
          </p:nvPr>
        </p:nvSpPr>
        <p:spPr>
          <a:xfrm>
            <a:off x="519600" y="1415300"/>
            <a:ext cx="11152800" cy="201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it-IT" sz="2600"/>
              <a:t>L'agente suggerisce, ma nessun ordine parte senza un sì esplicito del cliente.</a:t>
            </a:r>
            <a:endParaRPr/>
          </a:p>
        </p:txBody>
      </p:sp>
      <p:sp>
        <p:nvSpPr>
          <p:cNvPr id="484" name="Google Shape;484;p30"/>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85" name="Google Shape;485;p30"/>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86" name="Google Shape;486;p30"/>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bugs bunny from looney tunes is making a funny face with his mouth open and says no . (Provided by Tenor)" id="487" name="Google Shape;487;p30"/>
          <p:cNvPicPr preferRelativeResize="0"/>
          <p:nvPr/>
        </p:nvPicPr>
        <p:blipFill>
          <a:blip r:embed="rId4">
            <a:alphaModFix/>
          </a:blip>
          <a:stretch>
            <a:fillRect/>
          </a:stretch>
        </p:blipFill>
        <p:spPr>
          <a:xfrm>
            <a:off x="5211575" y="3809900"/>
            <a:ext cx="2240380" cy="224038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1"/>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93" name="Google Shape;493;p31"/>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94" name="Google Shape;494;p31"/>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495" name="Google Shape;495;p31"/>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Dal suggerimento alla cucina</a:t>
            </a:r>
            <a:endParaRPr/>
          </a:p>
        </p:txBody>
      </p:sp>
      <p:sp>
        <p:nvSpPr>
          <p:cNvPr id="496" name="Google Shape;496;p31"/>
          <p:cNvSpPr txBox="1"/>
          <p:nvPr/>
        </p:nvSpPr>
        <p:spPr>
          <a:xfrm>
            <a:off x="457200" y="1748790"/>
            <a:ext cx="11277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1800">
                <a:solidFill>
                  <a:schemeClr val="dk1"/>
                </a:solidFill>
                <a:latin typeface="Geist"/>
                <a:ea typeface="Geist"/>
                <a:cs typeface="Geist"/>
                <a:sym typeface="Geist"/>
              </a:rPr>
              <a:t>Il branch If è il bivio: si continua solo col consenso</a:t>
            </a:r>
            <a:endParaRPr sz="2000"/>
          </a:p>
        </p:txBody>
      </p:sp>
      <p:sp>
        <p:nvSpPr>
          <p:cNvPr id="497" name="Google Shape;497;p31"/>
          <p:cNvSpPr/>
          <p:nvPr/>
        </p:nvSpPr>
        <p:spPr>
          <a:xfrm>
            <a:off x="746760" y="3486150"/>
            <a:ext cx="1554480" cy="914400"/>
          </a:xfrm>
          <a:prstGeom prst="roundRect">
            <a:avLst>
              <a:gd fmla="val 16667" name="adj"/>
            </a:avLst>
          </a:prstGeom>
          <a:solidFill>
            <a:srgbClr val="F5D9E2"/>
          </a:solidFill>
          <a:ln cap="flat" cmpd="sng" w="19050">
            <a:solidFill>
              <a:srgbClr val="68003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AI Agent</a:t>
            </a:r>
            <a:endParaRPr/>
          </a:p>
        </p:txBody>
      </p:sp>
      <p:sp>
        <p:nvSpPr>
          <p:cNvPr id="498" name="Google Shape;498;p31"/>
          <p:cNvSpPr/>
          <p:nvPr/>
        </p:nvSpPr>
        <p:spPr>
          <a:xfrm>
            <a:off x="25755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HIL approva o rifiuta</a:t>
            </a:r>
            <a:endParaRPr/>
          </a:p>
        </p:txBody>
      </p:sp>
      <p:sp>
        <p:nvSpPr>
          <p:cNvPr id="499" name="Google Shape;499;p31"/>
          <p:cNvSpPr/>
          <p:nvPr/>
        </p:nvSpPr>
        <p:spPr>
          <a:xfrm>
            <a:off x="4404360" y="3486150"/>
            <a:ext cx="1554480" cy="914400"/>
          </a:xfrm>
          <a:prstGeom prst="roundRect">
            <a:avLst>
              <a:gd fmla="val 16667" name="adj"/>
            </a:avLst>
          </a:prstGeom>
          <a:solidFill>
            <a:srgbClr val="F7FDD1"/>
          </a:solidFill>
          <a:ln cap="flat" cmpd="sng" w="19050">
            <a:solidFill>
              <a:srgbClr val="E5FC5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Approvato?</a:t>
            </a:r>
            <a:endParaRPr/>
          </a:p>
        </p:txBody>
      </p:sp>
      <p:sp>
        <p:nvSpPr>
          <p:cNvPr id="500" name="Google Shape;500;p31"/>
          <p:cNvSpPr/>
          <p:nvPr/>
        </p:nvSpPr>
        <p:spPr>
          <a:xfrm>
            <a:off x="6233160" y="2628900"/>
            <a:ext cx="1554480" cy="914400"/>
          </a:xfrm>
          <a:prstGeom prst="ellipse">
            <a:avLst/>
          </a:prstGeom>
          <a:solidFill>
            <a:srgbClr val="EEE3FF"/>
          </a:solidFill>
          <a:ln cap="flat" cmpd="sng" w="19050">
            <a:solidFill>
              <a:srgbClr val="C294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Fine</a:t>
            </a:r>
            <a:endParaRPr/>
          </a:p>
        </p:txBody>
      </p:sp>
      <p:sp>
        <p:nvSpPr>
          <p:cNvPr id="501" name="Google Shape;501;p31"/>
          <p:cNvSpPr/>
          <p:nvPr/>
        </p:nvSpPr>
        <p:spPr>
          <a:xfrm>
            <a:off x="6233160" y="434340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Genera Token</a:t>
            </a:r>
            <a:endParaRPr/>
          </a:p>
        </p:txBody>
      </p:sp>
      <p:sp>
        <p:nvSpPr>
          <p:cNvPr id="502" name="Google Shape;502;p31"/>
          <p:cNvSpPr/>
          <p:nvPr/>
        </p:nvSpPr>
        <p:spPr>
          <a:xfrm>
            <a:off x="80619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Genera QR Code</a:t>
            </a:r>
            <a:endParaRPr/>
          </a:p>
        </p:txBody>
      </p:sp>
      <p:sp>
        <p:nvSpPr>
          <p:cNvPr id="503" name="Google Shape;503;p31"/>
          <p:cNvSpPr/>
          <p:nvPr/>
        </p:nvSpPr>
        <p:spPr>
          <a:xfrm>
            <a:off x="98907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Output</a:t>
            </a:r>
            <a:r>
              <a:rPr lang="it-IT" sz="1200">
                <a:solidFill>
                  <a:srgbClr val="080808"/>
                </a:solidFill>
                <a:latin typeface="Geist"/>
                <a:ea typeface="Geist"/>
                <a:cs typeface="Geist"/>
                <a:sym typeface="Geist"/>
              </a:rPr>
              <a:t> al cameriere</a:t>
            </a:r>
            <a:endParaRPr/>
          </a:p>
        </p:txBody>
      </p:sp>
      <p:cxnSp>
        <p:nvCxnSpPr>
          <p:cNvPr id="504" name="Google Shape;504;p31"/>
          <p:cNvCxnSpPr/>
          <p:nvPr/>
        </p:nvCxnSpPr>
        <p:spPr>
          <a:xfrm>
            <a:off x="23012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505" name="Google Shape;505;p31"/>
          <p:cNvCxnSpPr/>
          <p:nvPr/>
        </p:nvCxnSpPr>
        <p:spPr>
          <a:xfrm>
            <a:off x="41300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506" name="Google Shape;506;p31"/>
          <p:cNvCxnSpPr/>
          <p:nvPr/>
        </p:nvCxnSpPr>
        <p:spPr>
          <a:xfrm flipH="1" rot="10800000">
            <a:off x="5958840" y="3086100"/>
            <a:ext cx="274320" cy="857250"/>
          </a:xfrm>
          <a:prstGeom prst="straightConnector1">
            <a:avLst/>
          </a:prstGeom>
          <a:noFill/>
          <a:ln cap="flat" cmpd="sng" w="15875">
            <a:solidFill>
              <a:srgbClr val="080808"/>
            </a:solidFill>
            <a:prstDash val="solid"/>
            <a:miter lim="800000"/>
            <a:headEnd len="sm" w="sm" type="none"/>
            <a:tailEnd len="med" w="med" type="triangle"/>
          </a:ln>
        </p:spPr>
      </p:cxnSp>
      <p:sp>
        <p:nvSpPr>
          <p:cNvPr id="507" name="Google Shape;507;p31"/>
          <p:cNvSpPr txBox="1"/>
          <p:nvPr/>
        </p:nvSpPr>
        <p:spPr>
          <a:xfrm>
            <a:off x="5780532" y="3506153"/>
            <a:ext cx="548640" cy="274320"/>
          </a:xfrm>
          <a:prstGeom prst="rect">
            <a:avLst/>
          </a:prstGeom>
          <a:solidFill>
            <a:srgbClr val="FFFFFF"/>
          </a:solidFill>
          <a:ln cap="flat" cmpd="sng" w="9525">
            <a:solidFill>
              <a:srgbClr val="D0D0D0"/>
            </a:solidFill>
            <a:prstDash val="solid"/>
            <a:round/>
            <a:headEnd len="sm" w="sm" type="none"/>
            <a:tailEnd len="sm" w="sm" type="none"/>
          </a:ln>
        </p:spPr>
        <p:txBody>
          <a:bodyPr anchorCtr="0" anchor="t" bIns="18275" lIns="45700" spcFirstLastPara="1" rIns="45700" wrap="square" tIns="18275">
            <a:spAutoFit/>
          </a:bodyPr>
          <a:lstStyle/>
          <a:p>
            <a:pPr indent="0" lvl="0" marL="0" marR="0" rtl="0" algn="ctr">
              <a:spcBef>
                <a:spcPts val="0"/>
              </a:spcBef>
              <a:spcAft>
                <a:spcPts val="0"/>
              </a:spcAft>
              <a:buNone/>
            </a:pPr>
            <a:r>
              <a:rPr b="1" lang="it-IT" sz="900">
                <a:solidFill>
                  <a:srgbClr val="080808"/>
                </a:solidFill>
                <a:latin typeface="Geist"/>
                <a:ea typeface="Geist"/>
                <a:cs typeface="Geist"/>
                <a:sym typeface="Geist"/>
              </a:rPr>
              <a:t>No</a:t>
            </a:r>
            <a:endParaRPr/>
          </a:p>
        </p:txBody>
      </p:sp>
      <p:cxnSp>
        <p:nvCxnSpPr>
          <p:cNvPr id="508" name="Google Shape;508;p31"/>
          <p:cNvCxnSpPr/>
          <p:nvPr/>
        </p:nvCxnSpPr>
        <p:spPr>
          <a:xfrm>
            <a:off x="5958840" y="3943350"/>
            <a:ext cx="274320" cy="857250"/>
          </a:xfrm>
          <a:prstGeom prst="straightConnector1">
            <a:avLst/>
          </a:prstGeom>
          <a:noFill/>
          <a:ln cap="flat" cmpd="sng" w="15875">
            <a:solidFill>
              <a:srgbClr val="080808"/>
            </a:solidFill>
            <a:prstDash val="solid"/>
            <a:miter lim="800000"/>
            <a:headEnd len="sm" w="sm" type="none"/>
            <a:tailEnd len="med" w="med" type="triangle"/>
          </a:ln>
        </p:spPr>
      </p:cxnSp>
      <p:sp>
        <p:nvSpPr>
          <p:cNvPr id="509" name="Google Shape;509;p31"/>
          <p:cNvSpPr txBox="1"/>
          <p:nvPr/>
        </p:nvSpPr>
        <p:spPr>
          <a:xfrm>
            <a:off x="5780532" y="4106227"/>
            <a:ext cx="548640" cy="274320"/>
          </a:xfrm>
          <a:prstGeom prst="rect">
            <a:avLst/>
          </a:prstGeom>
          <a:solidFill>
            <a:srgbClr val="FFFFFF"/>
          </a:solidFill>
          <a:ln cap="flat" cmpd="sng" w="9525">
            <a:solidFill>
              <a:srgbClr val="D0D0D0"/>
            </a:solidFill>
            <a:prstDash val="solid"/>
            <a:round/>
            <a:headEnd len="sm" w="sm" type="none"/>
            <a:tailEnd len="sm" w="sm" type="none"/>
          </a:ln>
        </p:spPr>
        <p:txBody>
          <a:bodyPr anchorCtr="0" anchor="t" bIns="18275" lIns="45700" spcFirstLastPara="1" rIns="45700" wrap="square" tIns="18275">
            <a:spAutoFit/>
          </a:bodyPr>
          <a:lstStyle/>
          <a:p>
            <a:pPr indent="0" lvl="0" marL="0" marR="0" rtl="0" algn="ctr">
              <a:spcBef>
                <a:spcPts val="0"/>
              </a:spcBef>
              <a:spcAft>
                <a:spcPts val="0"/>
              </a:spcAft>
              <a:buNone/>
            </a:pPr>
            <a:r>
              <a:rPr b="1" lang="it-IT" sz="900">
                <a:solidFill>
                  <a:srgbClr val="080808"/>
                </a:solidFill>
                <a:latin typeface="Geist"/>
                <a:ea typeface="Geist"/>
                <a:cs typeface="Geist"/>
                <a:sym typeface="Geist"/>
              </a:rPr>
              <a:t>Si</a:t>
            </a:r>
            <a:endParaRPr/>
          </a:p>
        </p:txBody>
      </p:sp>
      <p:cxnSp>
        <p:nvCxnSpPr>
          <p:cNvPr id="510" name="Google Shape;510;p31"/>
          <p:cNvCxnSpPr/>
          <p:nvPr/>
        </p:nvCxnSpPr>
        <p:spPr>
          <a:xfrm flipH="1" rot="10800000">
            <a:off x="7787640" y="3943350"/>
            <a:ext cx="274320" cy="857250"/>
          </a:xfrm>
          <a:prstGeom prst="straightConnector1">
            <a:avLst/>
          </a:prstGeom>
          <a:noFill/>
          <a:ln cap="flat" cmpd="sng" w="15875">
            <a:solidFill>
              <a:srgbClr val="080808"/>
            </a:solidFill>
            <a:prstDash val="solid"/>
            <a:miter lim="800000"/>
            <a:headEnd len="sm" w="sm" type="none"/>
            <a:tailEnd len="med" w="med" type="triangle"/>
          </a:ln>
        </p:spPr>
      </p:cxnSp>
      <p:cxnSp>
        <p:nvCxnSpPr>
          <p:cNvPr id="511" name="Google Shape;511;p31"/>
          <p:cNvCxnSpPr/>
          <p:nvPr/>
        </p:nvCxnSpPr>
        <p:spPr>
          <a:xfrm>
            <a:off x="9616440" y="3943350"/>
            <a:ext cx="274320" cy="0"/>
          </a:xfrm>
          <a:prstGeom prst="straightConnector1">
            <a:avLst/>
          </a:prstGeom>
          <a:noFill/>
          <a:ln cap="flat" cmpd="sng" w="15875">
            <a:solidFill>
              <a:srgbClr val="080808"/>
            </a:solidFill>
            <a:prstDash val="solid"/>
            <a:miter lim="800000"/>
            <a:headEnd len="sm" w="sm"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Con HIL vs senza HIL</a:t>
            </a:r>
            <a:endParaRPr/>
          </a:p>
        </p:txBody>
      </p:sp>
      <p:sp>
        <p:nvSpPr>
          <p:cNvPr id="517" name="Google Shape;517;p32"/>
          <p:cNvSpPr txBox="1"/>
          <p:nvPr>
            <p:ph idx="2" type="body"/>
          </p:nvPr>
        </p:nvSpPr>
        <p:spPr>
          <a:xfrm>
            <a:off x="839800" y="2505075"/>
            <a:ext cx="5157900" cy="1453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L'agente ordina da solo</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Errori arrivano in cucina</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Zero controllo del cliente</a:t>
            </a:r>
            <a:endParaRPr/>
          </a:p>
        </p:txBody>
      </p:sp>
      <p:sp>
        <p:nvSpPr>
          <p:cNvPr id="518" name="Google Shape;518;p32"/>
          <p:cNvSpPr txBox="1"/>
          <p:nvPr>
            <p:ph idx="4" type="body"/>
          </p:nvPr>
        </p:nvSpPr>
        <p:spPr>
          <a:xfrm>
            <a:off x="6172200" y="2505075"/>
            <a:ext cx="5183100" cy="1325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Il cliente conferma l'ordine</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Errori bloccati prima</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Fiducia e tracciabilità</a:t>
            </a:r>
            <a:endParaRPr/>
          </a:p>
        </p:txBody>
      </p:sp>
      <p:sp>
        <p:nvSpPr>
          <p:cNvPr id="519" name="Google Shape;519;p32"/>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20" name="Google Shape;520;p32"/>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521" name="Google Shape;521;p32"/>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File:Sample User Icon.png - Wikimedia Commons" id="522" name="Google Shape;522;p32"/>
          <p:cNvPicPr preferRelativeResize="0"/>
          <p:nvPr/>
        </p:nvPicPr>
        <p:blipFill>
          <a:blip r:embed="rId4">
            <a:alphaModFix/>
          </a:blip>
          <a:stretch>
            <a:fillRect/>
          </a:stretch>
        </p:blipFill>
        <p:spPr>
          <a:xfrm>
            <a:off x="1541675" y="4047075"/>
            <a:ext cx="2091705" cy="2091705"/>
          </a:xfrm>
          <a:prstGeom prst="rect">
            <a:avLst/>
          </a:prstGeom>
          <a:noFill/>
          <a:ln>
            <a:noFill/>
          </a:ln>
        </p:spPr>
      </p:pic>
      <p:pic>
        <p:nvPicPr>
          <p:cNvPr descr="File:Sample User Icon.png - Wikimedia Commons" id="523" name="Google Shape;523;p32"/>
          <p:cNvPicPr preferRelativeResize="0"/>
          <p:nvPr/>
        </p:nvPicPr>
        <p:blipFill>
          <a:blip r:embed="rId4">
            <a:alphaModFix/>
          </a:blip>
          <a:stretch>
            <a:fillRect/>
          </a:stretch>
        </p:blipFill>
        <p:spPr>
          <a:xfrm>
            <a:off x="7051630" y="4047075"/>
            <a:ext cx="2091705" cy="2091705"/>
          </a:xfrm>
          <a:prstGeom prst="rect">
            <a:avLst/>
          </a:prstGeom>
          <a:noFill/>
          <a:ln>
            <a:noFill/>
          </a:ln>
        </p:spPr>
      </p:pic>
      <p:pic>
        <p:nvPicPr>
          <p:cNvPr descr="a red cross on a white background that looks like a x (Provided by Tenor)" id="524" name="Google Shape;524;p32"/>
          <p:cNvPicPr preferRelativeResize="0"/>
          <p:nvPr/>
        </p:nvPicPr>
        <p:blipFill>
          <a:blip r:embed="rId5">
            <a:alphaModFix/>
          </a:blip>
          <a:stretch>
            <a:fillRect/>
          </a:stretch>
        </p:blipFill>
        <p:spPr>
          <a:xfrm>
            <a:off x="3285550" y="4408775"/>
            <a:ext cx="947325" cy="947325"/>
          </a:xfrm>
          <a:prstGeom prst="rect">
            <a:avLst/>
          </a:prstGeom>
          <a:noFill/>
          <a:ln>
            <a:noFill/>
          </a:ln>
        </p:spPr>
      </p:pic>
      <p:pic>
        <p:nvPicPr>
          <p:cNvPr descr="File:Eo circle green checkmark.svg - Wikimedia Commons" id="525" name="Google Shape;525;p32"/>
          <p:cNvPicPr preferRelativeResize="0"/>
          <p:nvPr/>
        </p:nvPicPr>
        <p:blipFill>
          <a:blip r:embed="rId6">
            <a:alphaModFix/>
          </a:blip>
          <a:stretch>
            <a:fillRect/>
          </a:stretch>
        </p:blipFill>
        <p:spPr>
          <a:xfrm>
            <a:off x="8741556" y="4241989"/>
            <a:ext cx="947325" cy="94731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3"/>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31" name="Google Shape;531;p33"/>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532" name="Google Shape;532;p33"/>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533" name="Google Shape;533;p33"/>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Token ordine: dal testo al QR</a:t>
            </a:r>
            <a:endParaRPr/>
          </a:p>
        </p:txBody>
      </p:sp>
      <p:sp>
        <p:nvSpPr>
          <p:cNvPr id="534" name="Google Shape;534;p33"/>
          <p:cNvSpPr txBox="1"/>
          <p:nvPr/>
        </p:nvSpPr>
        <p:spPr>
          <a:xfrm>
            <a:off x="457200" y="1600200"/>
            <a:ext cx="11277600" cy="4155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import base64, hashlib, json</a:t>
            </a:r>
            <a:endParaRPr sz="2200"/>
          </a:p>
          <a:p>
            <a:pPr indent="0" lvl="0" marL="0" marR="0" rtl="0" algn="l">
              <a:spcBef>
                <a:spcPts val="0"/>
              </a:spcBef>
              <a:spcAft>
                <a:spcPts val="0"/>
              </a:spcAft>
              <a:buNone/>
            </a:pPr>
            <a:r>
              <a:t/>
            </a:r>
            <a:endParaRPr b="0" sz="2200">
              <a:solidFill>
                <a:schemeClr val="dk1"/>
              </a:solidFill>
              <a:latin typeface="Geist Mono"/>
              <a:ea typeface="Geist Mono"/>
              <a:cs typeface="Geist Mono"/>
              <a:sym typeface="Geist Mono"/>
            </a:endParaRPr>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payload = json.dumps(ordine, ensure_ascii=False)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token = base64.urlsafe_b64encode(payload.encode()).decode()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codice_breve = hashlib.sha256(token.encode()).hexdigest()[:8]</a:t>
            </a:r>
            <a:endParaRPr sz="2200"/>
          </a:p>
          <a:p>
            <a:pPr indent="0" lvl="0" marL="0" marR="0" rtl="0" algn="l">
              <a:spcBef>
                <a:spcPts val="0"/>
              </a:spcBef>
              <a:spcAft>
                <a:spcPts val="0"/>
              </a:spcAft>
              <a:buNone/>
            </a:pPr>
            <a:r>
              <a:t/>
            </a:r>
            <a:endParaRPr b="0" sz="2200">
              <a:solidFill>
                <a:schemeClr val="dk1"/>
              </a:solidFill>
              <a:latin typeface="Geist Mono"/>
              <a:ea typeface="Geist Mono"/>
              <a:cs typeface="Geist Mono"/>
              <a:sym typeface="Geist Mono"/>
            </a:endParaRPr>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url_qr = (</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    "https://api.qrserver.com/v1/create-qr-code/"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    f"?size=300x300&amp;data={codice_breve}"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a:t>
            </a:r>
            <a:endParaRPr sz="2200"/>
          </a:p>
          <a:p>
            <a:pPr indent="0" lvl="0" marL="0" marR="0" rtl="0" algn="l">
              <a:spcBef>
                <a:spcPts val="0"/>
              </a:spcBef>
              <a:spcAft>
                <a:spcPts val="0"/>
              </a:spcAft>
              <a:buNone/>
            </a:pPr>
            <a:r>
              <a:t/>
            </a:r>
            <a:endParaRPr b="0" sz="2200">
              <a:solidFill>
                <a:schemeClr val="dk1"/>
              </a:solidFill>
              <a:latin typeface="Geist Mono"/>
              <a:ea typeface="Geist Mono"/>
              <a:cs typeface="Geist Mono"/>
              <a:sym typeface="Geist Mono"/>
            </a:endParaRPr>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return [{"token": token, "codice": codice_breve, "qr": url_qr}]</a:t>
            </a:r>
            <a:endParaRPr sz="2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7"/>
          <p:cNvSpPr txBox="1"/>
          <p:nvPr/>
        </p:nvSpPr>
        <p:spPr>
          <a:xfrm>
            <a:off x="1706267" y="6355080"/>
            <a:ext cx="10028400" cy="338400"/>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40" name="Google Shape;540;p37"/>
          <p:cNvPicPr preferRelativeResize="0"/>
          <p:nvPr/>
        </p:nvPicPr>
        <p:blipFill rotWithShape="1">
          <a:blip r:embed="rId3">
            <a:alphaModFix/>
          </a:blip>
          <a:srcRect b="0" l="0" r="0" t="0"/>
          <a:stretch/>
        </p:blipFill>
        <p:spPr>
          <a:xfrm>
            <a:off x="457200" y="6439662"/>
            <a:ext cx="947314" cy="169164"/>
          </a:xfrm>
          <a:prstGeom prst="rect">
            <a:avLst/>
          </a:prstGeom>
          <a:noFill/>
          <a:ln>
            <a:noFill/>
          </a:ln>
        </p:spPr>
      </p:pic>
      <p:sp>
        <p:nvSpPr>
          <p:cNvPr id="541" name="Google Shape;541;p37"/>
          <p:cNvSpPr/>
          <p:nvPr/>
        </p:nvSpPr>
        <p:spPr>
          <a:xfrm>
            <a:off x="1541675" y="6355080"/>
            <a:ext cx="27300" cy="338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542" name="Google Shape;542;p37"/>
          <p:cNvSpPr txBox="1"/>
          <p:nvPr/>
        </p:nvSpPr>
        <p:spPr>
          <a:xfrm>
            <a:off x="548640" y="256032"/>
            <a:ext cx="10515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Un ordine, dall'inizio alla fine</a:t>
            </a:r>
            <a:endParaRPr/>
          </a:p>
        </p:txBody>
      </p:sp>
      <p:sp>
        <p:nvSpPr>
          <p:cNvPr id="543" name="Google Shape;543;p37"/>
          <p:cNvSpPr/>
          <p:nvPr/>
        </p:nvSpPr>
        <p:spPr>
          <a:xfrm>
            <a:off x="568361" y="2953987"/>
            <a:ext cx="1982100" cy="971700"/>
          </a:xfrm>
          <a:prstGeom prst="roundRect">
            <a:avLst>
              <a:gd fmla="val 16667" name="adj"/>
            </a:avLst>
          </a:prstGeom>
          <a:solidFill>
            <a:srgbClr val="D5DCFF"/>
          </a:solidFill>
          <a:ln cap="flat" cmpd="sng" w="20250">
            <a:solidFill>
              <a:srgbClr val="2D51FF"/>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Cliente scrive in chat</a:t>
            </a:r>
            <a:endParaRPr sz="1488"/>
          </a:p>
        </p:txBody>
      </p:sp>
      <p:sp>
        <p:nvSpPr>
          <p:cNvPr id="544" name="Google Shape;544;p37"/>
          <p:cNvSpPr/>
          <p:nvPr/>
        </p:nvSpPr>
        <p:spPr>
          <a:xfrm>
            <a:off x="2900078" y="2953987"/>
            <a:ext cx="1982100" cy="971700"/>
          </a:xfrm>
          <a:prstGeom prst="roundRect">
            <a:avLst>
              <a:gd fmla="val 16667" name="adj"/>
            </a:avLst>
          </a:prstGeom>
          <a:solidFill>
            <a:srgbClr val="F5D9E2"/>
          </a:solidFill>
          <a:ln cap="flat" cmpd="sng" w="20250">
            <a:solidFill>
              <a:srgbClr val="680031"/>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Agente suggerisce</a:t>
            </a:r>
            <a:endParaRPr sz="1488"/>
          </a:p>
        </p:txBody>
      </p:sp>
      <p:sp>
        <p:nvSpPr>
          <p:cNvPr id="545" name="Google Shape;545;p37"/>
          <p:cNvSpPr/>
          <p:nvPr/>
        </p:nvSpPr>
        <p:spPr>
          <a:xfrm>
            <a:off x="5231794" y="2953987"/>
            <a:ext cx="1982100" cy="971700"/>
          </a:xfrm>
          <a:prstGeom prst="roundRect">
            <a:avLst>
              <a:gd fmla="val 16667" name="adj"/>
            </a:avLst>
          </a:prstGeom>
          <a:solidFill>
            <a:srgbClr val="D5DCFF"/>
          </a:solidFill>
          <a:ln cap="flat" cmpd="sng" w="20250">
            <a:solidFill>
              <a:srgbClr val="2D51FF"/>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Cliente approva</a:t>
            </a:r>
            <a:endParaRPr sz="1488"/>
          </a:p>
        </p:txBody>
      </p:sp>
      <p:sp>
        <p:nvSpPr>
          <p:cNvPr id="546" name="Google Shape;546;p37"/>
          <p:cNvSpPr/>
          <p:nvPr/>
        </p:nvSpPr>
        <p:spPr>
          <a:xfrm>
            <a:off x="7563511" y="2953987"/>
            <a:ext cx="1982100" cy="971700"/>
          </a:xfrm>
          <a:prstGeom prst="roundRect">
            <a:avLst>
              <a:gd fmla="val 16667" name="adj"/>
            </a:avLst>
          </a:prstGeom>
          <a:solidFill>
            <a:srgbClr val="D5DCFF"/>
          </a:solidFill>
          <a:ln cap="flat" cmpd="sng" w="20250">
            <a:solidFill>
              <a:srgbClr val="2D51FF"/>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Token + QR generati</a:t>
            </a:r>
            <a:endParaRPr sz="1488"/>
          </a:p>
        </p:txBody>
      </p:sp>
      <p:sp>
        <p:nvSpPr>
          <p:cNvPr id="547" name="Google Shape;547;p37"/>
          <p:cNvSpPr/>
          <p:nvPr/>
        </p:nvSpPr>
        <p:spPr>
          <a:xfrm>
            <a:off x="9895227" y="2953987"/>
            <a:ext cx="1982100" cy="971700"/>
          </a:xfrm>
          <a:prstGeom prst="ellipse">
            <a:avLst/>
          </a:prstGeom>
          <a:solidFill>
            <a:srgbClr val="EEE3FF"/>
          </a:solidFill>
          <a:ln cap="flat" cmpd="sng" w="20250">
            <a:solidFill>
              <a:srgbClr val="C294FF"/>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Messaggio</a:t>
            </a:r>
            <a:endParaRPr sz="1488"/>
          </a:p>
        </p:txBody>
      </p:sp>
      <p:cxnSp>
        <p:nvCxnSpPr>
          <p:cNvPr id="548" name="Google Shape;548;p37"/>
          <p:cNvCxnSpPr/>
          <p:nvPr/>
        </p:nvCxnSpPr>
        <p:spPr>
          <a:xfrm>
            <a:off x="2550320" y="3439762"/>
            <a:ext cx="349800" cy="0"/>
          </a:xfrm>
          <a:prstGeom prst="straightConnector1">
            <a:avLst/>
          </a:prstGeom>
          <a:noFill/>
          <a:ln cap="flat" cmpd="sng" w="16875">
            <a:solidFill>
              <a:srgbClr val="080808"/>
            </a:solidFill>
            <a:prstDash val="solid"/>
            <a:miter lim="800000"/>
            <a:headEnd len="sm" w="sm" type="none"/>
            <a:tailEnd len="med" w="med" type="triangle"/>
          </a:ln>
        </p:spPr>
      </p:cxnSp>
      <p:cxnSp>
        <p:nvCxnSpPr>
          <p:cNvPr id="549" name="Google Shape;549;p37"/>
          <p:cNvCxnSpPr/>
          <p:nvPr/>
        </p:nvCxnSpPr>
        <p:spPr>
          <a:xfrm>
            <a:off x="4882037" y="3439762"/>
            <a:ext cx="349800" cy="0"/>
          </a:xfrm>
          <a:prstGeom prst="straightConnector1">
            <a:avLst/>
          </a:prstGeom>
          <a:noFill/>
          <a:ln cap="flat" cmpd="sng" w="16875">
            <a:solidFill>
              <a:srgbClr val="080808"/>
            </a:solidFill>
            <a:prstDash val="solid"/>
            <a:miter lim="800000"/>
            <a:headEnd len="sm" w="sm" type="none"/>
            <a:tailEnd len="med" w="med" type="triangle"/>
          </a:ln>
        </p:spPr>
      </p:cxnSp>
      <p:cxnSp>
        <p:nvCxnSpPr>
          <p:cNvPr id="550" name="Google Shape;550;p37"/>
          <p:cNvCxnSpPr/>
          <p:nvPr/>
        </p:nvCxnSpPr>
        <p:spPr>
          <a:xfrm>
            <a:off x="7213753" y="3439762"/>
            <a:ext cx="349800" cy="0"/>
          </a:xfrm>
          <a:prstGeom prst="straightConnector1">
            <a:avLst/>
          </a:prstGeom>
          <a:noFill/>
          <a:ln cap="flat" cmpd="sng" w="16875">
            <a:solidFill>
              <a:srgbClr val="080808"/>
            </a:solidFill>
            <a:prstDash val="solid"/>
            <a:miter lim="800000"/>
            <a:headEnd len="sm" w="sm" type="none"/>
            <a:tailEnd len="med" w="med" type="triangle"/>
          </a:ln>
        </p:spPr>
      </p:cxnSp>
      <p:cxnSp>
        <p:nvCxnSpPr>
          <p:cNvPr id="551" name="Google Shape;551;p37"/>
          <p:cNvCxnSpPr/>
          <p:nvPr/>
        </p:nvCxnSpPr>
        <p:spPr>
          <a:xfrm>
            <a:off x="9545470" y="3439762"/>
            <a:ext cx="349800" cy="0"/>
          </a:xfrm>
          <a:prstGeom prst="straightConnector1">
            <a:avLst/>
          </a:prstGeom>
          <a:noFill/>
          <a:ln cap="flat" cmpd="sng" w="16875">
            <a:solidFill>
              <a:srgbClr val="080808"/>
            </a:solidFill>
            <a:prstDash val="solid"/>
            <a:miter lim="800000"/>
            <a:headEnd len="sm" w="sm"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3fd47f7097e_2_24"/>
          <p:cNvSpPr txBox="1"/>
          <p:nvPr>
            <p:ph type="title"/>
          </p:nvPr>
        </p:nvSpPr>
        <p:spPr>
          <a:xfrm>
            <a:off x="551884" y="259882"/>
            <a:ext cx="10515600" cy="148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Se qualcosa si rompe??</a:t>
            </a:r>
            <a:endParaRPr/>
          </a:p>
        </p:txBody>
      </p:sp>
      <p:sp>
        <p:nvSpPr>
          <p:cNvPr id="557" name="Google Shape;557;g3fd47f7097e_2_24"/>
          <p:cNvSpPr txBox="1"/>
          <p:nvPr>
            <p:ph idx="1" type="body"/>
          </p:nvPr>
        </p:nvSpPr>
        <p:spPr>
          <a:xfrm>
            <a:off x="551884" y="2305346"/>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Leggi il nodo rosso per primo</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Controlla le credenziali API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Vector Store vuoto? Ricarica PDF</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Webhook spento? Riattiva trigger</a:t>
            </a:r>
            <a:endParaRPr/>
          </a:p>
        </p:txBody>
      </p:sp>
      <p:sp>
        <p:nvSpPr>
          <p:cNvPr id="558" name="Google Shape;558;g3fd47f7097e_2_24"/>
          <p:cNvSpPr txBox="1"/>
          <p:nvPr/>
        </p:nvSpPr>
        <p:spPr>
          <a:xfrm>
            <a:off x="1706267" y="6355080"/>
            <a:ext cx="10028400" cy="338400"/>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59" name="Google Shape;559;g3fd47f7097e_2_24"/>
          <p:cNvPicPr preferRelativeResize="0"/>
          <p:nvPr/>
        </p:nvPicPr>
        <p:blipFill rotWithShape="1">
          <a:blip r:embed="rId3">
            <a:alphaModFix/>
          </a:blip>
          <a:srcRect b="0" l="0" r="0" t="0"/>
          <a:stretch/>
        </p:blipFill>
        <p:spPr>
          <a:xfrm>
            <a:off x="457200" y="6439662"/>
            <a:ext cx="947314" cy="169164"/>
          </a:xfrm>
          <a:prstGeom prst="rect">
            <a:avLst/>
          </a:prstGeom>
          <a:noFill/>
          <a:ln>
            <a:noFill/>
          </a:ln>
        </p:spPr>
      </p:pic>
      <p:sp>
        <p:nvSpPr>
          <p:cNvPr id="560" name="Google Shape;560;g3fd47f7097e_2_24"/>
          <p:cNvSpPr/>
          <p:nvPr/>
        </p:nvSpPr>
        <p:spPr>
          <a:xfrm>
            <a:off x="1541675" y="6355080"/>
            <a:ext cx="27300" cy="338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man sits at a desk in front of a computer with a picture on it (Provided by Tenor)" id="561" name="Google Shape;561;g3fd47f7097e_2_24"/>
          <p:cNvPicPr preferRelativeResize="0"/>
          <p:nvPr/>
        </p:nvPicPr>
        <p:blipFill>
          <a:blip r:embed="rId4">
            <a:alphaModFix/>
          </a:blip>
          <a:stretch>
            <a:fillRect/>
          </a:stretch>
        </p:blipFill>
        <p:spPr>
          <a:xfrm>
            <a:off x="5676125" y="2518525"/>
            <a:ext cx="4743450" cy="3257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9"/>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5 idee da non dimenticare</a:t>
            </a:r>
            <a:endParaRPr/>
          </a:p>
        </p:txBody>
      </p:sp>
      <p:sp>
        <p:nvSpPr>
          <p:cNvPr id="567" name="Google Shape;567;p39"/>
          <p:cNvSpPr txBox="1"/>
          <p:nvPr>
            <p:ph idx="1" type="body"/>
          </p:nvPr>
        </p:nvSpPr>
        <p:spPr>
          <a:xfrm>
            <a:off x="551884" y="2305346"/>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RAG dà fonti vere all'agente</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L'agente è un </a:t>
            </a:r>
            <a:r>
              <a:rPr lang="it-IT" sz="2000"/>
              <a:t>LLM</a:t>
            </a:r>
            <a:r>
              <a:rPr lang="it-IT" sz="2000">
                <a:latin typeface="Geist"/>
                <a:ea typeface="Geist"/>
                <a:cs typeface="Geist"/>
                <a:sym typeface="Geist"/>
              </a:rPr>
              <a:t> </a:t>
            </a:r>
            <a:r>
              <a:rPr lang="it-IT" sz="2000"/>
              <a:t>con</a:t>
            </a:r>
            <a:r>
              <a:rPr lang="it-IT" sz="2000">
                <a:latin typeface="Geist"/>
                <a:ea typeface="Geist"/>
                <a:cs typeface="Geist"/>
                <a:sym typeface="Geist"/>
              </a:rPr>
              <a:t> tools</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Il contesto cambia la risposta</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L'umano resta nel loop</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n8n collega tutto visualmente</a:t>
            </a:r>
            <a:endParaRPr/>
          </a:p>
        </p:txBody>
      </p:sp>
      <p:sp>
        <p:nvSpPr>
          <p:cNvPr id="568" name="Google Shape;568;p39"/>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69" name="Google Shape;569;p39"/>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570" name="Google Shape;570;p39"/>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pixel art drawing of a light bulb on a white background (Provided by Tenor)" id="571" name="Google Shape;571;p39"/>
          <p:cNvPicPr preferRelativeResize="0"/>
          <p:nvPr/>
        </p:nvPicPr>
        <p:blipFill>
          <a:blip r:embed="rId4">
            <a:alphaModFix/>
          </a:blip>
          <a:stretch>
            <a:fillRect/>
          </a:stretch>
        </p:blipFill>
        <p:spPr>
          <a:xfrm>
            <a:off x="6999610" y="2305345"/>
            <a:ext cx="2197501" cy="19164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0"/>
          <p:cNvSpPr txBox="1"/>
          <p:nvPr>
            <p:ph type="ctrTitle"/>
          </p:nvPr>
        </p:nvSpPr>
        <p:spPr>
          <a:xfrm>
            <a:off x="568039" y="502995"/>
            <a:ext cx="9042935" cy="91217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latin typeface="Geist"/>
                <a:ea typeface="Geist"/>
                <a:cs typeface="Geist"/>
                <a:sym typeface="Geist"/>
              </a:rPr>
              <a:t>Grazie e buone tigelle!</a:t>
            </a:r>
            <a:endParaRPr/>
          </a:p>
        </p:txBody>
      </p:sp>
      <p:sp>
        <p:nvSpPr>
          <p:cNvPr id="577" name="Google Shape;577;p40"/>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78" name="Google Shape;578;p40"/>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579" name="Google Shape;579;p40"/>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id="580" name="Google Shape;580;p40"/>
          <p:cNvPicPr preferRelativeResize="0"/>
          <p:nvPr/>
        </p:nvPicPr>
        <p:blipFill>
          <a:blip r:embed="rId4">
            <a:alphaModFix/>
          </a:blip>
          <a:stretch>
            <a:fillRect/>
          </a:stretch>
        </p:blipFill>
        <p:spPr>
          <a:xfrm>
            <a:off x="3778450" y="1567572"/>
            <a:ext cx="4635109" cy="463510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3fd4779c472_4_618"/>
          <p:cNvSpPr txBox="1"/>
          <p:nvPr/>
        </p:nvSpPr>
        <p:spPr>
          <a:xfrm>
            <a:off x="457200" y="365760"/>
            <a:ext cx="100584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5400">
                <a:solidFill>
                  <a:srgbClr val="FFFFFF"/>
                </a:solidFill>
                <a:latin typeface="Geist"/>
                <a:ea typeface="Geist"/>
                <a:cs typeface="Geist"/>
                <a:sym typeface="Geist"/>
              </a:rPr>
              <a:t>Domande?</a:t>
            </a:r>
            <a:endParaRPr/>
          </a:p>
        </p:txBody>
      </p:sp>
      <p:pic>
        <p:nvPicPr>
          <p:cNvPr descr="a cartoon character from south park says are there any questions . (Provided by Tenor)" id="586" name="Google Shape;586;g3fd4779c472_4_618"/>
          <p:cNvPicPr preferRelativeResize="0"/>
          <p:nvPr/>
        </p:nvPicPr>
        <p:blipFill>
          <a:blip r:embed="rId3">
            <a:alphaModFix/>
          </a:blip>
          <a:stretch>
            <a:fillRect/>
          </a:stretch>
        </p:blipFill>
        <p:spPr>
          <a:xfrm>
            <a:off x="9387650" y="3309903"/>
            <a:ext cx="2494350" cy="2611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DATA MASTERS / Accent">
      <a:dk1>
        <a:srgbClr val="080808"/>
      </a:dk1>
      <a:lt1>
        <a:srgbClr val="FFFFFF"/>
      </a:lt1>
      <a:dk2>
        <a:srgbClr val="2D51FF"/>
      </a:dk2>
      <a:lt2>
        <a:srgbClr val="D5DCFF"/>
      </a:lt2>
      <a:accent1>
        <a:srgbClr val="E5FC54"/>
      </a:accent1>
      <a:accent2>
        <a:srgbClr val="32FE6B"/>
      </a:accent2>
      <a:accent3>
        <a:srgbClr val="C294FF"/>
      </a:accent3>
      <a:accent4>
        <a:srgbClr val="FE5D02"/>
      </a:accent4>
      <a:accent5>
        <a:srgbClr val="FF70FE"/>
      </a:accent5>
      <a:accent6>
        <a:srgbClr val="680031"/>
      </a:accent6>
      <a:hlink>
        <a:srgbClr val="202F74"/>
      </a:hlink>
      <a:folHlink>
        <a:srgbClr val="8197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i Office">
  <a:themeElements>
    <a:clrScheme name="DATA MASTERS / Accent">
      <a:dk1>
        <a:srgbClr val="080808"/>
      </a:dk1>
      <a:lt1>
        <a:srgbClr val="FFFFFF"/>
      </a:lt1>
      <a:dk2>
        <a:srgbClr val="2D51FF"/>
      </a:dk2>
      <a:lt2>
        <a:srgbClr val="D5DCFF"/>
      </a:lt2>
      <a:accent1>
        <a:srgbClr val="E5FC54"/>
      </a:accent1>
      <a:accent2>
        <a:srgbClr val="32FE6B"/>
      </a:accent2>
      <a:accent3>
        <a:srgbClr val="C294FF"/>
      </a:accent3>
      <a:accent4>
        <a:srgbClr val="FE5D02"/>
      </a:accent4>
      <a:accent5>
        <a:srgbClr val="FF70FE"/>
      </a:accent5>
      <a:accent6>
        <a:srgbClr val="680031"/>
      </a:accent6>
      <a:hlink>
        <a:srgbClr val="202F74"/>
      </a:hlink>
      <a:folHlink>
        <a:srgbClr val="8197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2024-05-07T08:54:19Z</dcterms:created>
  <dc:creator>Marianna Palmieri</dc:creator>
</cp:coreProperties>
</file>